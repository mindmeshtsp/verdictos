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2" r:id="rId11"/>
  </p:sldIdLst>
  <p:sldSz cx="121793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3" roundtripDataSignature="AMtx7mgE5ei+gPArDoYVBmMjbb5rv34H5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6BD176B-B367-48D6-A09C-E4AB94313932}">
  <a:tblStyle styleId="{C6BD176B-B367-48D6-A09C-E4AB9431393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257" autoAdjust="0"/>
    <p:restoredTop sz="94660"/>
  </p:normalViewPr>
  <p:slideViewPr>
    <p:cSldViewPr snapToGrid="0">
      <p:cViewPr varScale="1">
        <p:scale>
          <a:sx n="73" d="100"/>
          <a:sy n="73" d="100"/>
        </p:scale>
        <p:origin x="12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customschemas.google.com/relationships/presentationmetadata" Target="meta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5800"/>
            <a:ext cx="60896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5800"/>
            <a:ext cx="60896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5800"/>
            <a:ext cx="60896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5800"/>
            <a:ext cx="60896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5800"/>
            <a:ext cx="60896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5800"/>
            <a:ext cx="60896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>
          <a:extLst>
            <a:ext uri="{FF2B5EF4-FFF2-40B4-BE49-F238E27FC236}">
              <a16:creationId xmlns:a16="http://schemas.microsoft.com/office/drawing/2014/main" id="{4E8C904D-8394-08C7-D5A4-BEFFCEF7F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6:notes">
            <a:extLst>
              <a:ext uri="{FF2B5EF4-FFF2-40B4-BE49-F238E27FC236}">
                <a16:creationId xmlns:a16="http://schemas.microsoft.com/office/drawing/2014/main" id="{B4E42FBC-FAB3-B8D4-A9D7-54E27BD0DE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6:notes">
            <a:extLst>
              <a:ext uri="{FF2B5EF4-FFF2-40B4-BE49-F238E27FC236}">
                <a16:creationId xmlns:a16="http://schemas.microsoft.com/office/drawing/2014/main" id="{F2693FEE-A67A-734D-9CCD-A12508AF49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5800"/>
            <a:ext cx="60896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727741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>
          <a:extLst>
            <a:ext uri="{FF2B5EF4-FFF2-40B4-BE49-F238E27FC236}">
              <a16:creationId xmlns:a16="http://schemas.microsoft.com/office/drawing/2014/main" id="{142EF587-F93A-C096-0851-E45886713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6:notes">
            <a:extLst>
              <a:ext uri="{FF2B5EF4-FFF2-40B4-BE49-F238E27FC236}">
                <a16:creationId xmlns:a16="http://schemas.microsoft.com/office/drawing/2014/main" id="{97A1477E-6D4B-2F56-42A6-F172E013B7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6:notes">
            <a:extLst>
              <a:ext uri="{FF2B5EF4-FFF2-40B4-BE49-F238E27FC236}">
                <a16:creationId xmlns:a16="http://schemas.microsoft.com/office/drawing/2014/main" id="{59AD6BEB-3E7C-3F5C-CD27-1B581CB05E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5800"/>
            <a:ext cx="60896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752768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>
          <a:extLst>
            <a:ext uri="{FF2B5EF4-FFF2-40B4-BE49-F238E27FC236}">
              <a16:creationId xmlns:a16="http://schemas.microsoft.com/office/drawing/2014/main" id="{848CB250-F4BC-0C45-3F61-73341EF89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6:notes">
            <a:extLst>
              <a:ext uri="{FF2B5EF4-FFF2-40B4-BE49-F238E27FC236}">
                <a16:creationId xmlns:a16="http://schemas.microsoft.com/office/drawing/2014/main" id="{65BB3A22-F1F4-DE24-2912-93200A3C71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6:notes">
            <a:extLst>
              <a:ext uri="{FF2B5EF4-FFF2-40B4-BE49-F238E27FC236}">
                <a16:creationId xmlns:a16="http://schemas.microsoft.com/office/drawing/2014/main" id="{94C90C37-BC76-C0BC-7150-8BD8C821AE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5800"/>
            <a:ext cx="60896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965535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5800"/>
            <a:ext cx="60896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>
  <p:cSld name="Section Header">
    <p:bg>
      <p:bgPr>
        <a:solidFill>
          <a:srgbClr val="0BA2B3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489770" y="5461000"/>
            <a:ext cx="1524000" cy="1206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9"/>
          <p:cNvSpPr/>
          <p:nvPr/>
        </p:nvSpPr>
        <p:spPr>
          <a:xfrm>
            <a:off x="3554946" y="4955133"/>
            <a:ext cx="2120057" cy="1"/>
          </a:xfrm>
          <a:custGeom>
            <a:avLst/>
            <a:gdLst/>
            <a:ahLst/>
            <a:cxnLst/>
            <a:rect l="l" t="t" r="r" b="b"/>
            <a:pathLst>
              <a:path w="21600" h="1200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13" name="Google Shape;13;p9"/>
          <p:cNvSpPr txBox="1">
            <a:spLocks noGrp="1"/>
          </p:cNvSpPr>
          <p:nvPr>
            <p:ph type="body" idx="1"/>
          </p:nvPr>
        </p:nvSpPr>
        <p:spPr>
          <a:xfrm>
            <a:off x="640800" y="5886454"/>
            <a:ext cx="8280000" cy="451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9"/>
          <p:cNvSpPr/>
          <p:nvPr/>
        </p:nvSpPr>
        <p:spPr>
          <a:xfrm>
            <a:off x="165529" y="190499"/>
            <a:ext cx="11848241" cy="6477001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Arial"/>
              <a:buNone/>
            </a:pPr>
            <a:endParaRPr sz="1900" b="1" i="0" u="none" strike="noStrike" cap="non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9"/>
          <p:cNvSpPr txBox="1">
            <a:spLocks noGrp="1"/>
          </p:cNvSpPr>
          <p:nvPr>
            <p:ph type="title"/>
          </p:nvPr>
        </p:nvSpPr>
        <p:spPr>
          <a:xfrm>
            <a:off x="640800" y="4843803"/>
            <a:ext cx="8280000" cy="1037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  <a:defRPr sz="4000">
                <a:solidFill>
                  <a:srgbClr val="FFFFFF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pic>
        <p:nvPicPr>
          <p:cNvPr id="16" name="Google Shape;1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16196" y="435122"/>
            <a:ext cx="1116970" cy="3636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logo">
  <p:cSld name="Slide with logo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0"/>
          <p:cNvSpPr txBox="1">
            <a:spLocks noGrp="1"/>
          </p:cNvSpPr>
          <p:nvPr>
            <p:ph type="sldNum" idx="12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" name="Google Shape;19;p10"/>
          <p:cNvSpPr/>
          <p:nvPr/>
        </p:nvSpPr>
        <p:spPr>
          <a:xfrm>
            <a:off x="10297948" y="1240221"/>
            <a:ext cx="1481958" cy="67266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3100"/>
              </a:buClr>
              <a:buSzPts val="2800"/>
              <a:buFont typeface="Arial"/>
              <a:buNone/>
            </a:pPr>
            <a:endParaRPr sz="2800" b="1" i="0" u="none" strike="noStrike" cap="none">
              <a:solidFill>
                <a:srgbClr val="B4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" name="Google Shape;20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629023" y="362581"/>
            <a:ext cx="1150883" cy="4305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2 Contents">
  <p:cSld name="Title and 2 Content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89650" y="0"/>
            <a:ext cx="6089650" cy="20875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692400"/>
            <a:ext cx="4178300" cy="4165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11"/>
          <p:cNvSpPr txBox="1">
            <a:spLocks noGrp="1"/>
          </p:cNvSpPr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1"/>
          <p:cNvSpPr txBox="1">
            <a:spLocks noGrp="1"/>
          </p:cNvSpPr>
          <p:nvPr>
            <p:ph type="sldNum" idx="12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" name="Google Shape;26;p11"/>
          <p:cNvSpPr txBox="1">
            <a:spLocks noGrp="1"/>
          </p:cNvSpPr>
          <p:nvPr>
            <p:ph type="body" idx="1"/>
          </p:nvPr>
        </p:nvSpPr>
        <p:spPr>
          <a:xfrm>
            <a:off x="360000" y="1440000"/>
            <a:ext cx="50400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sz="2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17232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NTR"/>
              <a:buNone/>
              <a:defRPr sz="1400" b="0" i="0" u="none" strike="noStrike" cap="non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" name="Google Shape;27;p11"/>
          <p:cNvSpPr txBox="1">
            <a:spLocks noGrp="1"/>
          </p:cNvSpPr>
          <p:nvPr>
            <p:ph type="body" idx="2"/>
          </p:nvPr>
        </p:nvSpPr>
        <p:spPr>
          <a:xfrm>
            <a:off x="360000" y="1799999"/>
            <a:ext cx="5040000" cy="43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Google Shape;28;p11"/>
          <p:cNvSpPr txBox="1">
            <a:spLocks noGrp="1"/>
          </p:cNvSpPr>
          <p:nvPr>
            <p:ph type="body" idx="3"/>
          </p:nvPr>
        </p:nvSpPr>
        <p:spPr>
          <a:xfrm>
            <a:off x="6089650" y="1440000"/>
            <a:ext cx="50400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sz="2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17232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NTR"/>
              <a:buNone/>
              <a:defRPr sz="1400" b="0" i="0" u="none" strike="noStrike" cap="non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" name="Google Shape;29;p11"/>
          <p:cNvSpPr txBox="1">
            <a:spLocks noGrp="1"/>
          </p:cNvSpPr>
          <p:nvPr>
            <p:ph type="body" idx="4"/>
          </p:nvPr>
        </p:nvSpPr>
        <p:spPr>
          <a:xfrm>
            <a:off x="6089650" y="1799999"/>
            <a:ext cx="5040000" cy="43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" name="Google Shape;30;p11"/>
          <p:cNvSpPr/>
          <p:nvPr/>
        </p:nvSpPr>
        <p:spPr>
          <a:xfrm>
            <a:off x="500" y="6761480"/>
            <a:ext cx="12178800" cy="96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endParaRPr sz="1900" b="1" i="0" u="none" strike="noStrike" cap="non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" name="Google Shape;31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67661" y="404660"/>
            <a:ext cx="1063903" cy="3463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ustom Layout">
  <p:cSld name="Custom Layou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2"/>
          <p:cNvSpPr txBox="1">
            <a:spLocks noGrp="1"/>
          </p:cNvSpPr>
          <p:nvPr>
            <p:ph type="title"/>
          </p:nvPr>
        </p:nvSpPr>
        <p:spPr>
          <a:xfrm>
            <a:off x="635128" y="4640687"/>
            <a:ext cx="9000000" cy="457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pic>
        <p:nvPicPr>
          <p:cNvPr id="34" name="Google Shape;3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97966" y="362286"/>
            <a:ext cx="833598" cy="416799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12"/>
          <p:cNvSpPr/>
          <p:nvPr/>
        </p:nvSpPr>
        <p:spPr>
          <a:xfrm>
            <a:off x="165529" y="190499"/>
            <a:ext cx="11848241" cy="6477001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Arial"/>
              <a:buNone/>
            </a:pPr>
            <a:endParaRPr sz="1900" b="1" i="0" u="none" strike="noStrike" cap="non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" name="Google Shape;36;p12" descr="Imag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0348" y="393566"/>
            <a:ext cx="6557643" cy="3556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29023" y="362581"/>
            <a:ext cx="1150883" cy="4305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>
  <p:cSld name="Title Slide">
    <p:bg>
      <p:bgPr>
        <a:solidFill>
          <a:schemeClr val="accent1"/>
        </a:solid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197670" y="5461000"/>
            <a:ext cx="1816100" cy="120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5529" y="190499"/>
            <a:ext cx="1816100" cy="120650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13"/>
          <p:cNvSpPr/>
          <p:nvPr/>
        </p:nvSpPr>
        <p:spPr>
          <a:xfrm>
            <a:off x="3554946" y="4955133"/>
            <a:ext cx="2120057" cy="1"/>
          </a:xfrm>
          <a:custGeom>
            <a:avLst/>
            <a:gdLst/>
            <a:ahLst/>
            <a:cxnLst/>
            <a:rect l="l" t="t" r="r" b="b"/>
            <a:pathLst>
              <a:path w="21600" h="1200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42" name="Google Shape;42;p13"/>
          <p:cNvSpPr/>
          <p:nvPr/>
        </p:nvSpPr>
        <p:spPr>
          <a:xfrm>
            <a:off x="165529" y="190499"/>
            <a:ext cx="11848241" cy="6477001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Arial"/>
              <a:buNone/>
            </a:pPr>
            <a:endParaRPr sz="1900" b="1" i="0" u="none" strike="noStrike" cap="non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13"/>
          <p:cNvSpPr txBox="1">
            <a:spLocks noGrp="1"/>
          </p:cNvSpPr>
          <p:nvPr>
            <p:ph type="body" idx="1"/>
          </p:nvPr>
        </p:nvSpPr>
        <p:spPr>
          <a:xfrm>
            <a:off x="640800" y="5850000"/>
            <a:ext cx="3818481" cy="630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A322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A322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body" idx="2"/>
          </p:nvPr>
        </p:nvSpPr>
        <p:spPr>
          <a:xfrm>
            <a:off x="640800" y="4574120"/>
            <a:ext cx="8822225" cy="914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5" name="Google Shape;45;p13"/>
          <p:cNvSpPr txBox="1">
            <a:spLocks noGrp="1"/>
          </p:cNvSpPr>
          <p:nvPr>
            <p:ph type="subTitle" idx="3"/>
          </p:nvPr>
        </p:nvSpPr>
        <p:spPr>
          <a:xfrm>
            <a:off x="644227" y="2845823"/>
            <a:ext cx="8820000" cy="151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91666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46" name="Google Shape;46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21449" y="507429"/>
            <a:ext cx="1496116" cy="7480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4"/>
          <p:cNvSpPr txBox="1">
            <a:spLocks noGrp="1"/>
          </p:cNvSpPr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4"/>
          <p:cNvSpPr txBox="1">
            <a:spLocks noGrp="1"/>
          </p:cNvSpPr>
          <p:nvPr>
            <p:ph type="sldNum" idx="12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" name="Google Shape;50;p14"/>
          <p:cNvSpPr txBox="1">
            <a:spLocks noGrp="1"/>
          </p:cNvSpPr>
          <p:nvPr>
            <p:ph type="body" idx="1"/>
          </p:nvPr>
        </p:nvSpPr>
        <p:spPr>
          <a:xfrm>
            <a:off x="360000" y="1440000"/>
            <a:ext cx="90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sz="2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17232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NTR"/>
              <a:buNone/>
              <a:defRPr sz="1400" b="0" i="0" u="none" strike="noStrike" cap="non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" name="Google Shape;51;p14"/>
          <p:cNvSpPr txBox="1">
            <a:spLocks noGrp="1"/>
          </p:cNvSpPr>
          <p:nvPr>
            <p:ph type="body" idx="2"/>
          </p:nvPr>
        </p:nvSpPr>
        <p:spPr>
          <a:xfrm>
            <a:off x="360000" y="1799999"/>
            <a:ext cx="9000000" cy="43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Content Dark">
  <p:cSld name="Title and Content Dark">
    <p:bg>
      <p:bgPr>
        <a:solidFill>
          <a:schemeClr val="accent2"/>
        </a:soli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5"/>
          <p:cNvSpPr txBox="1">
            <a:spLocks noGrp="1"/>
          </p:cNvSpPr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5"/>
          <p:cNvSpPr txBox="1">
            <a:spLocks noGrp="1"/>
          </p:cNvSpPr>
          <p:nvPr>
            <p:ph type="sldNum" idx="12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5" name="Google Shape;55;p15"/>
          <p:cNvSpPr txBox="1">
            <a:spLocks noGrp="1"/>
          </p:cNvSpPr>
          <p:nvPr>
            <p:ph type="body" idx="1"/>
          </p:nvPr>
        </p:nvSpPr>
        <p:spPr>
          <a:xfrm>
            <a:off x="360000" y="1440000"/>
            <a:ext cx="90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  <a:defRPr sz="2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17232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NTR"/>
              <a:buNone/>
              <a:defRPr sz="1400" b="0" i="0" u="none" strike="noStrike" cap="non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body" idx="2"/>
          </p:nvPr>
        </p:nvSpPr>
        <p:spPr>
          <a:xfrm>
            <a:off x="360000" y="1799999"/>
            <a:ext cx="9000000" cy="43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7" name="Google Shape;57;p15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endParaRPr sz="1900" b="1" i="0" u="none" strike="noStrike" cap="non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" name="Google Shape;58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 and Content Teal">
  <p:cSld name="1_Title and Content Teal">
    <p:bg>
      <p:bgPr>
        <a:solidFill>
          <a:schemeClr val="accent4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6"/>
          <p:cNvSpPr txBox="1">
            <a:spLocks noGrp="1"/>
          </p:cNvSpPr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6"/>
          <p:cNvSpPr txBox="1">
            <a:spLocks noGrp="1"/>
          </p:cNvSpPr>
          <p:nvPr>
            <p:ph type="sldNum" idx="12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2" name="Google Shape;62;p16"/>
          <p:cNvSpPr txBox="1">
            <a:spLocks noGrp="1"/>
          </p:cNvSpPr>
          <p:nvPr>
            <p:ph type="body" idx="1"/>
          </p:nvPr>
        </p:nvSpPr>
        <p:spPr>
          <a:xfrm>
            <a:off x="360000" y="1440000"/>
            <a:ext cx="90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  <a:defRPr sz="2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17232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NTR"/>
              <a:buNone/>
              <a:defRPr sz="1400" b="0" i="0" u="none" strike="noStrike" cap="non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body" idx="2"/>
          </p:nvPr>
        </p:nvSpPr>
        <p:spPr>
          <a:xfrm>
            <a:off x="360000" y="1799999"/>
            <a:ext cx="9000000" cy="43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4" name="Google Shape;64;p16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endParaRPr sz="1900" b="1" i="0" u="none" strike="noStrike" cap="non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5" name="Google Shape;65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line only">
  <p:cSld name="Headline only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>
            <a:spLocks noGrp="1"/>
          </p:cNvSpPr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sldNum" idx="12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Headline only Dark">
  <p:cSld name="Headline only Dark">
    <p:bg>
      <p:bgPr>
        <a:solidFill>
          <a:schemeClr val="accent2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8"/>
          <p:cNvSpPr txBox="1">
            <a:spLocks noGrp="1"/>
          </p:cNvSpPr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8"/>
          <p:cNvSpPr txBox="1">
            <a:spLocks noGrp="1"/>
          </p:cNvSpPr>
          <p:nvPr>
            <p:ph type="sldNum" idx="12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2" name="Google Shape;72;p18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endParaRPr sz="1900" b="1" i="0" u="none" strike="noStrike" cap="non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3" name="Google Shape;73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Headline only Teal">
  <p:cSld name="1_Headline only Teal">
    <p:bg>
      <p:bgPr>
        <a:solidFill>
          <a:schemeClr val="accent4"/>
        </a:solid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>
            <a:spLocks noGrp="1"/>
          </p:cNvSpPr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sldNum" idx="12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7" name="Google Shape;77;p19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endParaRPr sz="1900" b="1" i="0" u="none" strike="noStrike" cap="non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8" name="Google Shape;78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mparison">
  <p:cSld name="Comparison">
    <p:bg>
      <p:bgPr>
        <a:solidFill>
          <a:schemeClr val="accent3"/>
        </a:solidFill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756788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20"/>
          <p:cNvSpPr txBox="1">
            <a:spLocks noGrp="1"/>
          </p:cNvSpPr>
          <p:nvPr>
            <p:ph type="sldNum" idx="12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2" name="Google Shape;82;p20"/>
          <p:cNvSpPr txBox="1">
            <a:spLocks noGrp="1"/>
          </p:cNvSpPr>
          <p:nvPr>
            <p:ph type="title"/>
          </p:nvPr>
        </p:nvSpPr>
        <p:spPr>
          <a:xfrm>
            <a:off x="359999" y="1674394"/>
            <a:ext cx="5040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0"/>
          <p:cNvSpPr txBox="1">
            <a:spLocks noGrp="1"/>
          </p:cNvSpPr>
          <p:nvPr>
            <p:ph type="body" idx="1"/>
          </p:nvPr>
        </p:nvSpPr>
        <p:spPr>
          <a:xfrm>
            <a:off x="6480000" y="1674393"/>
            <a:ext cx="5040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4" name="Google Shape;84;p20"/>
          <p:cNvSpPr txBox="1">
            <a:spLocks noGrp="1"/>
          </p:cNvSpPr>
          <p:nvPr>
            <p:ph type="body" idx="2"/>
          </p:nvPr>
        </p:nvSpPr>
        <p:spPr>
          <a:xfrm>
            <a:off x="6480000" y="2834245"/>
            <a:ext cx="5040000" cy="3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3528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680"/>
              <a:buFont typeface="Arial"/>
              <a:buChar char="•"/>
              <a:def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5" name="Google Shape;85;p20"/>
          <p:cNvSpPr txBox="1">
            <a:spLocks noGrp="1"/>
          </p:cNvSpPr>
          <p:nvPr>
            <p:ph type="body" idx="3"/>
          </p:nvPr>
        </p:nvSpPr>
        <p:spPr>
          <a:xfrm>
            <a:off x="360000" y="2834245"/>
            <a:ext cx="5040000" cy="3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3528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" name="Google Shape;86;p20"/>
          <p:cNvSpPr/>
          <p:nvPr/>
        </p:nvSpPr>
        <p:spPr>
          <a:xfrm>
            <a:off x="500" y="6761480"/>
            <a:ext cx="12178800" cy="96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endParaRPr sz="1900" b="1" i="0" u="none" strike="noStrike" cap="non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" name="Google Shape;87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Quote Slide">
  <p:cSld name="Quote Slide">
    <p:bg>
      <p:bgPr>
        <a:solidFill>
          <a:schemeClr val="accent2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1"/>
          <p:cNvSpPr/>
          <p:nvPr/>
        </p:nvSpPr>
        <p:spPr>
          <a:xfrm>
            <a:off x="3554946" y="4955133"/>
            <a:ext cx="2120057" cy="1"/>
          </a:xfrm>
          <a:custGeom>
            <a:avLst/>
            <a:gdLst/>
            <a:ahLst/>
            <a:cxnLst/>
            <a:rect l="l" t="t" r="r" b="b"/>
            <a:pathLst>
              <a:path w="21600" h="1200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90" name="Google Shape;90;p21"/>
          <p:cNvSpPr txBox="1"/>
          <p:nvPr/>
        </p:nvSpPr>
        <p:spPr>
          <a:xfrm>
            <a:off x="1343734" y="2179914"/>
            <a:ext cx="239177" cy="3274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Font typeface="Arial"/>
              <a:buNone/>
            </a:pPr>
            <a:r>
              <a:rPr lang="en-US" sz="3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91" name="Google Shape;91;p21"/>
          <p:cNvSpPr/>
          <p:nvPr/>
        </p:nvSpPr>
        <p:spPr>
          <a:xfrm>
            <a:off x="165529" y="190499"/>
            <a:ext cx="11848241" cy="6477001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Arial"/>
              <a:buNone/>
            </a:pPr>
            <a:endParaRPr sz="1900" b="1" i="0" u="none" strike="noStrike" cap="non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21"/>
          <p:cNvSpPr/>
          <p:nvPr/>
        </p:nvSpPr>
        <p:spPr>
          <a:xfrm rot="10800000" flipH="1">
            <a:off x="9366432" y="5569929"/>
            <a:ext cx="505472" cy="505473"/>
          </a:xfrm>
          <a:prstGeom prst="rect">
            <a:avLst/>
          </a:prstGeom>
          <a:solidFill>
            <a:srgbClr val="0BA2B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endParaRPr sz="1900" b="1" i="0" u="none" strike="noStrike" cap="non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21"/>
          <p:cNvSpPr txBox="1">
            <a:spLocks noGrp="1"/>
          </p:cNvSpPr>
          <p:nvPr>
            <p:ph type="title"/>
          </p:nvPr>
        </p:nvSpPr>
        <p:spPr>
          <a:xfrm>
            <a:off x="1591200" y="2187168"/>
            <a:ext cx="8405525" cy="1977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"/>
              <a:buNone/>
              <a:defRPr sz="3800">
                <a:solidFill>
                  <a:srgbClr val="FFFFFF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1"/>
          <p:cNvSpPr txBox="1">
            <a:spLocks noGrp="1"/>
          </p:cNvSpPr>
          <p:nvPr>
            <p:ph type="body" idx="1"/>
          </p:nvPr>
        </p:nvSpPr>
        <p:spPr>
          <a:xfrm>
            <a:off x="1591200" y="4421963"/>
            <a:ext cx="7025229" cy="8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95" name="Google Shape;95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374886" y="5067046"/>
            <a:ext cx="2006600" cy="100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photo">
  <p:cSld name="Content with photo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2"/>
          <p:cNvSpPr>
            <a:spLocks noGrp="1"/>
          </p:cNvSpPr>
          <p:nvPr>
            <p:ph type="pic" idx="2"/>
          </p:nvPr>
        </p:nvSpPr>
        <p:spPr>
          <a:xfrm>
            <a:off x="7937500" y="1447601"/>
            <a:ext cx="4241800" cy="5410399"/>
          </a:xfrm>
          <a:prstGeom prst="rect">
            <a:avLst/>
          </a:prstGeom>
          <a:noFill/>
          <a:ln>
            <a:noFill/>
          </a:ln>
        </p:spPr>
      </p:sp>
      <p:sp>
        <p:nvSpPr>
          <p:cNvPr id="99" name="Google Shape;99;p22"/>
          <p:cNvSpPr txBox="1">
            <a:spLocks noGrp="1"/>
          </p:cNvSpPr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2"/>
          <p:cNvSpPr txBox="1">
            <a:spLocks noGrp="1"/>
          </p:cNvSpPr>
          <p:nvPr>
            <p:ph type="sldNum" idx="12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1" name="Google Shape;101;p22"/>
          <p:cNvSpPr txBox="1">
            <a:spLocks noGrp="1"/>
          </p:cNvSpPr>
          <p:nvPr>
            <p:ph type="body" idx="1"/>
          </p:nvPr>
        </p:nvSpPr>
        <p:spPr>
          <a:xfrm>
            <a:off x="360000" y="1440000"/>
            <a:ext cx="72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sz="2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17232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NTR"/>
              <a:buNone/>
              <a:defRPr sz="1400" b="0" i="0" u="none" strike="noStrike" cap="non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72325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17232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2" name="Google Shape;102;p22"/>
          <p:cNvSpPr txBox="1">
            <a:spLocks noGrp="1"/>
          </p:cNvSpPr>
          <p:nvPr>
            <p:ph type="body" idx="3"/>
          </p:nvPr>
        </p:nvSpPr>
        <p:spPr>
          <a:xfrm>
            <a:off x="360000" y="1799999"/>
            <a:ext cx="7200000" cy="43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03" name="Google Shape;103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937500" y="3935445"/>
            <a:ext cx="965200" cy="965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2"/>
          <p:cNvSpPr txBox="1">
            <a:spLocks noGrp="1"/>
          </p:cNvSpPr>
          <p:nvPr>
            <p:ph type="body" idx="4"/>
          </p:nvPr>
        </p:nvSpPr>
        <p:spPr>
          <a:xfrm>
            <a:off x="2793987" y="4888595"/>
            <a:ext cx="6980036" cy="1969405"/>
          </a:xfrm>
          <a:prstGeom prst="rect">
            <a:avLst/>
          </a:prstGeom>
          <a:solidFill>
            <a:srgbClr val="CCF2FF"/>
          </a:solidFill>
          <a:ln>
            <a:noFill/>
          </a:ln>
        </p:spPr>
        <p:txBody>
          <a:bodyPr spcFirstLastPara="1" wrap="square" lIns="317500" tIns="317500" rIns="317500" bIns="317500" anchor="t" anchorCtr="0">
            <a:noAutofit/>
          </a:bodyPr>
          <a:lstStyle>
            <a:lvl1pPr marL="457200" marR="0" lvl="0" indent="-228600" algn="l" rtl="0">
              <a:lnSpc>
                <a:spcPct val="115789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Arial"/>
              <a:buNone/>
              <a:defRPr sz="19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5" name="Google Shape;105;p22"/>
          <p:cNvSpPr/>
          <p:nvPr/>
        </p:nvSpPr>
        <p:spPr>
          <a:xfrm>
            <a:off x="500" y="6761480"/>
            <a:ext cx="12178800" cy="96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endParaRPr sz="1900" b="1" i="0" u="none" strike="noStrike" cap="non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OC Slide 4">
  <p:cSld name="TOC Slide 4">
    <p:bg>
      <p:bgPr>
        <a:solidFill>
          <a:schemeClr val="accent4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3"/>
          <p:cNvSpPr txBox="1">
            <a:spLocks noGrp="1"/>
          </p:cNvSpPr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3"/>
          <p:cNvSpPr txBox="1">
            <a:spLocks noGrp="1"/>
          </p:cNvSpPr>
          <p:nvPr>
            <p:ph type="sldNum" idx="12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9" name="Google Shape;109;p23"/>
          <p:cNvSpPr txBox="1">
            <a:spLocks noGrp="1"/>
          </p:cNvSpPr>
          <p:nvPr>
            <p:ph type="body" idx="1"/>
          </p:nvPr>
        </p:nvSpPr>
        <p:spPr>
          <a:xfrm>
            <a:off x="360000" y="3445170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0" name="Google Shape;110;p23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endParaRPr sz="1900" b="1" i="0" u="none" strike="noStrike" cap="non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3"/>
          <p:cNvSpPr txBox="1">
            <a:spLocks noGrp="1"/>
          </p:cNvSpPr>
          <p:nvPr>
            <p:ph type="body" idx="2"/>
          </p:nvPr>
        </p:nvSpPr>
        <p:spPr>
          <a:xfrm>
            <a:off x="3229990" y="3445170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2" name="Google Shape;112;p23"/>
          <p:cNvSpPr txBox="1">
            <a:spLocks noGrp="1"/>
          </p:cNvSpPr>
          <p:nvPr>
            <p:ph type="body" idx="3"/>
          </p:nvPr>
        </p:nvSpPr>
        <p:spPr>
          <a:xfrm>
            <a:off x="6099980" y="3445170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3" name="Google Shape;113;p23"/>
          <p:cNvSpPr txBox="1">
            <a:spLocks noGrp="1"/>
          </p:cNvSpPr>
          <p:nvPr>
            <p:ph type="body" idx="4"/>
          </p:nvPr>
        </p:nvSpPr>
        <p:spPr>
          <a:xfrm>
            <a:off x="8969970" y="3445170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14" name="Google Shape;114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OC Slide 8">
  <p:cSld name="TOC Slide 8">
    <p:bg>
      <p:bgPr>
        <a:solidFill>
          <a:schemeClr val="accent4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4"/>
          <p:cNvSpPr txBox="1">
            <a:spLocks noGrp="1"/>
          </p:cNvSpPr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4"/>
          <p:cNvSpPr txBox="1">
            <a:spLocks noGrp="1"/>
          </p:cNvSpPr>
          <p:nvPr>
            <p:ph type="sldNum" idx="12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8" name="Google Shape;118;p24"/>
          <p:cNvSpPr txBox="1">
            <a:spLocks noGrp="1"/>
          </p:cNvSpPr>
          <p:nvPr>
            <p:ph type="body" idx="1"/>
          </p:nvPr>
        </p:nvSpPr>
        <p:spPr>
          <a:xfrm>
            <a:off x="360000" y="1565570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9" name="Google Shape;119;p24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endParaRPr sz="1900" b="1" i="0" u="none" strike="noStrike" cap="non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24"/>
          <p:cNvSpPr txBox="1">
            <a:spLocks noGrp="1"/>
          </p:cNvSpPr>
          <p:nvPr>
            <p:ph type="body" idx="2"/>
          </p:nvPr>
        </p:nvSpPr>
        <p:spPr>
          <a:xfrm>
            <a:off x="3229990" y="1565570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1" name="Google Shape;121;p24"/>
          <p:cNvSpPr txBox="1">
            <a:spLocks noGrp="1"/>
          </p:cNvSpPr>
          <p:nvPr>
            <p:ph type="body" idx="3"/>
          </p:nvPr>
        </p:nvSpPr>
        <p:spPr>
          <a:xfrm>
            <a:off x="6099980" y="1565570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2" name="Google Shape;122;p24"/>
          <p:cNvSpPr txBox="1">
            <a:spLocks noGrp="1"/>
          </p:cNvSpPr>
          <p:nvPr>
            <p:ph type="body" idx="4"/>
          </p:nvPr>
        </p:nvSpPr>
        <p:spPr>
          <a:xfrm>
            <a:off x="8969970" y="1565570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3" name="Google Shape;123;p24"/>
          <p:cNvSpPr txBox="1">
            <a:spLocks noGrp="1"/>
          </p:cNvSpPr>
          <p:nvPr>
            <p:ph type="body" idx="5"/>
          </p:nvPr>
        </p:nvSpPr>
        <p:spPr>
          <a:xfrm>
            <a:off x="360000" y="4077072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4" name="Google Shape;124;p24"/>
          <p:cNvSpPr txBox="1">
            <a:spLocks noGrp="1"/>
          </p:cNvSpPr>
          <p:nvPr>
            <p:ph type="body" idx="6"/>
          </p:nvPr>
        </p:nvSpPr>
        <p:spPr>
          <a:xfrm>
            <a:off x="3229990" y="4077072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5" name="Google Shape;125;p24"/>
          <p:cNvSpPr txBox="1">
            <a:spLocks noGrp="1"/>
          </p:cNvSpPr>
          <p:nvPr>
            <p:ph type="body" idx="7"/>
          </p:nvPr>
        </p:nvSpPr>
        <p:spPr>
          <a:xfrm>
            <a:off x="6099980" y="4077072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6" name="Google Shape;126;p24"/>
          <p:cNvSpPr txBox="1">
            <a:spLocks noGrp="1"/>
          </p:cNvSpPr>
          <p:nvPr>
            <p:ph type="body" idx="8"/>
          </p:nvPr>
        </p:nvSpPr>
        <p:spPr>
          <a:xfrm>
            <a:off x="8969970" y="4077072"/>
            <a:ext cx="2520000" cy="2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27" name="Google Shape;127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Agenda slide Table Dark">
  <p:cSld name="Agenda slide Table Dark">
    <p:bg>
      <p:bgPr>
        <a:solidFill>
          <a:schemeClr val="accent2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>
            <a:spLocks noGrp="1"/>
          </p:cNvSpPr>
          <p:nvPr>
            <p:ph type="title"/>
          </p:nvPr>
        </p:nvSpPr>
        <p:spPr>
          <a:xfrm>
            <a:off x="359999" y="360000"/>
            <a:ext cx="9000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25"/>
          <p:cNvSpPr txBox="1">
            <a:spLocks noGrp="1"/>
          </p:cNvSpPr>
          <p:nvPr>
            <p:ph type="sldNum" idx="12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1" name="Google Shape;131;p25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endParaRPr sz="1900" b="1" i="0" u="none" strike="noStrike" cap="non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Google Shape;132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Agenda slide Table">
  <p:cSld name="Agenda slide Table">
    <p:bg>
      <p:bgPr>
        <a:solidFill>
          <a:schemeClr val="accent4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6"/>
          <p:cNvSpPr txBox="1">
            <a:spLocks noGrp="1"/>
          </p:cNvSpPr>
          <p:nvPr>
            <p:ph type="title"/>
          </p:nvPr>
        </p:nvSpPr>
        <p:spPr>
          <a:xfrm>
            <a:off x="359999" y="360000"/>
            <a:ext cx="9000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26"/>
          <p:cNvSpPr txBox="1">
            <a:spLocks noGrp="1"/>
          </p:cNvSpPr>
          <p:nvPr>
            <p:ph type="sldNum" idx="12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6" name="Google Shape;136;p26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endParaRPr sz="1900" b="1" i="0" u="none" strike="noStrike" cap="non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7" name="Google Shape;137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tement">
  <p:cSld name="Statement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>
            <a:spLocks noGrp="1"/>
          </p:cNvSpPr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22222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27"/>
          <p:cNvSpPr txBox="1">
            <a:spLocks noGrp="1"/>
          </p:cNvSpPr>
          <p:nvPr>
            <p:ph type="sldNum" idx="12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1" name="Google Shape;141;p27"/>
          <p:cNvSpPr txBox="1">
            <a:spLocks noGrp="1"/>
          </p:cNvSpPr>
          <p:nvPr>
            <p:ph type="body" idx="1"/>
          </p:nvPr>
        </p:nvSpPr>
        <p:spPr>
          <a:xfrm>
            <a:off x="360000" y="2610760"/>
            <a:ext cx="3478685" cy="21082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82875" tIns="182875" rIns="182875" bIns="182875" anchor="ctr" anchorCtr="0">
            <a:norm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sz="2800" b="1" i="0" u="none" strike="noStrike" cap="non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sz="2800" b="1" i="0" u="none" strike="noStrike" cap="non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sz="2800" b="1" i="0" u="none" strike="noStrike" cap="non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sz="2800" b="1" i="0" u="none" strike="noStrike" cap="non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2" name="Google Shape;142;p27"/>
          <p:cNvSpPr txBox="1">
            <a:spLocks noGrp="1"/>
          </p:cNvSpPr>
          <p:nvPr>
            <p:ph type="body" idx="2"/>
          </p:nvPr>
        </p:nvSpPr>
        <p:spPr>
          <a:xfrm>
            <a:off x="4308328" y="2610760"/>
            <a:ext cx="3478685" cy="210820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182875" tIns="182875" rIns="182875" bIns="182875" anchor="ctr" anchorCtr="0">
            <a:norm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sz="2800" b="1" i="0" u="none" strike="noStrike" cap="non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sz="2800" b="1" i="0" u="none" strike="noStrike" cap="non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sz="2800" b="1" i="0" u="none" strike="noStrike" cap="non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sz="2800" b="1" i="0" u="none" strike="noStrike" cap="non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3" name="Google Shape;143;p27"/>
          <p:cNvSpPr txBox="1">
            <a:spLocks noGrp="1"/>
          </p:cNvSpPr>
          <p:nvPr>
            <p:ph type="body" idx="3"/>
          </p:nvPr>
        </p:nvSpPr>
        <p:spPr>
          <a:xfrm>
            <a:off x="8256655" y="2610760"/>
            <a:ext cx="3478685" cy="210820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182875" tIns="182875" rIns="182875" bIns="182875" anchor="ctr" anchorCtr="0">
            <a:norm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sz="2800" b="1" i="0" u="none" strike="noStrike" cap="non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sz="2800" b="1" i="0" u="none" strike="noStrike" cap="non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sz="2800" b="1" i="0" u="none" strike="noStrike" cap="non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2800"/>
              <a:buFont typeface="Arial"/>
              <a:buNone/>
              <a:defRPr sz="2800" b="1" i="0" u="none" strike="noStrike" cap="none">
                <a:solidFill>
                  <a:srgbClr val="B4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lide with logo Dark">
  <p:cSld name="Slide with logo Dark">
    <p:bg>
      <p:bgPr>
        <a:solidFill>
          <a:schemeClr val="accent2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8"/>
          <p:cNvSpPr txBox="1">
            <a:spLocks noGrp="1"/>
          </p:cNvSpPr>
          <p:nvPr>
            <p:ph type="sldNum" idx="12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6" name="Google Shape;146;p28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endParaRPr sz="1900" b="1" i="0" u="none" strike="noStrike" cap="non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7" name="Google Shape;147;p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Slide with logo Teal">
  <p:cSld name="1_Slide with logo Teal">
    <p:bg>
      <p:bgPr>
        <a:solidFill>
          <a:schemeClr val="accent4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9"/>
          <p:cNvSpPr txBox="1">
            <a:spLocks noGrp="1"/>
          </p:cNvSpPr>
          <p:nvPr>
            <p:ph type="sldNum" idx="12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0" name="Google Shape;150;p29"/>
          <p:cNvSpPr/>
          <p:nvPr/>
        </p:nvSpPr>
        <p:spPr>
          <a:xfrm>
            <a:off x="500" y="6761481"/>
            <a:ext cx="12178800" cy="96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endParaRPr sz="1900" b="1" i="0" u="none" strike="noStrike" cap="non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1" name="Google Shape;151;p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6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hank You Slide">
  <p:cSld name="Thank You Slide">
    <p:bg>
      <p:bgPr>
        <a:solidFill>
          <a:schemeClr val="accent1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0"/>
          <p:cNvSpPr/>
          <p:nvPr/>
        </p:nvSpPr>
        <p:spPr>
          <a:xfrm>
            <a:off x="165529" y="190499"/>
            <a:ext cx="11848241" cy="6477001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Arial"/>
              <a:buNone/>
            </a:pPr>
            <a:endParaRPr sz="1900" b="1" i="0" u="none" strike="noStrike" cap="non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4" name="Google Shape;154;p30" descr="Imag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0348" y="393566"/>
            <a:ext cx="6557644" cy="3556001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30"/>
          <p:cNvSpPr txBox="1">
            <a:spLocks noGrp="1"/>
          </p:cNvSpPr>
          <p:nvPr>
            <p:ph type="body" idx="1"/>
          </p:nvPr>
        </p:nvSpPr>
        <p:spPr>
          <a:xfrm>
            <a:off x="617538" y="4291334"/>
            <a:ext cx="234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6" name="Google Shape;156;p30"/>
          <p:cNvSpPr txBox="1">
            <a:spLocks noGrp="1"/>
          </p:cNvSpPr>
          <p:nvPr>
            <p:ph type="body" idx="2"/>
          </p:nvPr>
        </p:nvSpPr>
        <p:spPr>
          <a:xfrm>
            <a:off x="3473690" y="4291334"/>
            <a:ext cx="234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7" name="Google Shape;157;p30"/>
          <p:cNvSpPr txBox="1">
            <a:spLocks noGrp="1"/>
          </p:cNvSpPr>
          <p:nvPr>
            <p:ph type="body" idx="3"/>
          </p:nvPr>
        </p:nvSpPr>
        <p:spPr>
          <a:xfrm>
            <a:off x="6329842" y="4291334"/>
            <a:ext cx="234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8" name="Google Shape;158;p30"/>
          <p:cNvSpPr txBox="1">
            <a:spLocks noGrp="1"/>
          </p:cNvSpPr>
          <p:nvPr>
            <p:ph type="body" idx="4"/>
          </p:nvPr>
        </p:nvSpPr>
        <p:spPr>
          <a:xfrm>
            <a:off x="9185994" y="4291334"/>
            <a:ext cx="234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9" name="Google Shape;159;p30"/>
          <p:cNvSpPr txBox="1">
            <a:spLocks noGrp="1"/>
          </p:cNvSpPr>
          <p:nvPr>
            <p:ph type="body" idx="5"/>
          </p:nvPr>
        </p:nvSpPr>
        <p:spPr>
          <a:xfrm>
            <a:off x="617538" y="4725144"/>
            <a:ext cx="234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0" name="Google Shape;160;p30"/>
          <p:cNvSpPr txBox="1">
            <a:spLocks noGrp="1"/>
          </p:cNvSpPr>
          <p:nvPr>
            <p:ph type="body" idx="6"/>
          </p:nvPr>
        </p:nvSpPr>
        <p:spPr>
          <a:xfrm>
            <a:off x="3473690" y="4725144"/>
            <a:ext cx="234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1" name="Google Shape;161;p30"/>
          <p:cNvSpPr txBox="1">
            <a:spLocks noGrp="1"/>
          </p:cNvSpPr>
          <p:nvPr>
            <p:ph type="body" idx="7"/>
          </p:nvPr>
        </p:nvSpPr>
        <p:spPr>
          <a:xfrm>
            <a:off x="6329842" y="4725144"/>
            <a:ext cx="234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2" name="Google Shape;162;p30"/>
          <p:cNvSpPr txBox="1">
            <a:spLocks noGrp="1"/>
          </p:cNvSpPr>
          <p:nvPr>
            <p:ph type="body" idx="8"/>
          </p:nvPr>
        </p:nvSpPr>
        <p:spPr>
          <a:xfrm>
            <a:off x="9185994" y="4725144"/>
            <a:ext cx="234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565"/>
              </a:buClr>
              <a:buSzPts val="1400"/>
              <a:buFont typeface="Arial"/>
              <a:buChar char="-"/>
              <a:defRPr sz="14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33333"/>
              </a:lnSpc>
              <a:spcBef>
                <a:spcPts val="1000"/>
              </a:spcBef>
              <a:spcAft>
                <a:spcPts val="0"/>
              </a:spcAft>
              <a:buClr>
                <a:srgbClr val="007565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075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63" name="Google Shape;163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7966" y="362285"/>
            <a:ext cx="835200" cy="41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9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>
            <a:spLocks noGrp="1"/>
          </p:cNvSpPr>
          <p:nvPr>
            <p:ph type="sldNum" idx="12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" name="Google Shape;7;p8"/>
          <p:cNvSpPr/>
          <p:nvPr/>
        </p:nvSpPr>
        <p:spPr>
          <a:xfrm>
            <a:off x="500" y="6761480"/>
            <a:ext cx="12178800" cy="96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0000"/>
              </a:buClr>
              <a:buSzPts val="1900"/>
              <a:buFont typeface="Arial"/>
              <a:buNone/>
            </a:pPr>
            <a:endParaRPr sz="1900" b="1" i="0" u="none" strike="noStrike" cap="none">
              <a:solidFill>
                <a:srgbClr val="6131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8;p8"/>
          <p:cNvSpPr txBox="1">
            <a:spLocks noGrp="1"/>
          </p:cNvSpPr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15789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15789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15789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15789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15789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15789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15789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15789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9" name="Google Shape;9;p8"/>
          <p:cNvPicPr preferRelativeResize="0"/>
          <p:nvPr/>
        </p:nvPicPr>
        <p:blipFill rotWithShape="1">
          <a:blip r:embed="rId24">
            <a:alphaModFix/>
          </a:blip>
          <a:srcRect/>
          <a:stretch/>
        </p:blipFill>
        <p:spPr>
          <a:xfrm>
            <a:off x="10897966" y="362286"/>
            <a:ext cx="833598" cy="416799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jpg"/><Relationship Id="rId5" Type="http://schemas.openxmlformats.org/officeDocument/2006/relationships/image" Target="../media/image18.jpeg"/><Relationship Id="rId4" Type="http://schemas.openxmlformats.org/officeDocument/2006/relationships/image" Target="../media/image17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"/>
          <p:cNvSpPr txBox="1">
            <a:spLocks noGrp="1"/>
          </p:cNvSpPr>
          <p:nvPr>
            <p:ph type="body" idx="1"/>
          </p:nvPr>
        </p:nvSpPr>
        <p:spPr>
          <a:xfrm>
            <a:off x="536297" y="5654717"/>
            <a:ext cx="82800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dirty="0"/>
              <a:t>UiPath </a:t>
            </a:r>
            <a:r>
              <a:rPr lang="en-US" dirty="0" err="1"/>
              <a:t>AgentHack</a:t>
            </a:r>
            <a:r>
              <a:rPr lang="en-US" dirty="0"/>
              <a:t>. Build the AI agents of tomorrow. </a:t>
            </a:r>
            <a:endParaRPr dirty="0"/>
          </a:p>
        </p:txBody>
      </p:sp>
      <p:sp>
        <p:nvSpPr>
          <p:cNvPr id="169" name="Google Shape;169;p1"/>
          <p:cNvSpPr txBox="1">
            <a:spLocks noGrp="1"/>
          </p:cNvSpPr>
          <p:nvPr>
            <p:ph type="title"/>
          </p:nvPr>
        </p:nvSpPr>
        <p:spPr>
          <a:xfrm>
            <a:off x="536297" y="1817574"/>
            <a:ext cx="8280000" cy="1037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u="sng" dirty="0" err="1">
                <a:solidFill>
                  <a:schemeClr val="bg1"/>
                </a:solidFill>
              </a:rPr>
              <a:t>VerdictOS</a:t>
            </a:r>
            <a:r>
              <a:rPr lang="en-US" u="sng" dirty="0">
                <a:solidFill>
                  <a:schemeClr val="bg1"/>
                </a:solidFill>
              </a:rPr>
              <a:t> – </a:t>
            </a:r>
            <a:br>
              <a:rPr lang="en-US" u="sng" dirty="0">
                <a:solidFill>
                  <a:schemeClr val="bg1"/>
                </a:solidFill>
              </a:rPr>
            </a:br>
            <a:r>
              <a:rPr lang="en-US" u="sng" dirty="0">
                <a:solidFill>
                  <a:schemeClr val="bg1"/>
                </a:solidFill>
              </a:rPr>
              <a:t>Agentic Courtroom for Enterprise Decisions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6838B8-0E5B-7731-B6DE-AFA848A89A34}"/>
              </a:ext>
            </a:extLst>
          </p:cNvPr>
          <p:cNvSpPr txBox="1"/>
          <p:nvPr/>
        </p:nvSpPr>
        <p:spPr>
          <a:xfrm>
            <a:off x="755469" y="4249430"/>
            <a:ext cx="6091644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b="1" u="sng" dirty="0">
                <a:solidFill>
                  <a:schemeClr val="bg1"/>
                </a:solidFill>
              </a:rPr>
              <a:t>UiPath Hackathon Submission</a:t>
            </a:r>
          </a:p>
          <a:p>
            <a:r>
              <a:rPr lang="en-US" sz="2500" b="1" u="sng" dirty="0">
                <a:solidFill>
                  <a:schemeClr val="bg1"/>
                </a:solidFill>
              </a:rPr>
              <a:t>Team: </a:t>
            </a:r>
            <a:r>
              <a:rPr lang="en-US" sz="2500" b="1" u="sng" dirty="0" err="1">
                <a:solidFill>
                  <a:schemeClr val="bg1"/>
                </a:solidFill>
              </a:rPr>
              <a:t>MindMesh</a:t>
            </a:r>
            <a:endParaRPr lang="en-US" sz="2500" b="1" u="sng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"/>
          <p:cNvSpPr txBox="1"/>
          <p:nvPr/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Clr>
                <a:schemeClr val="dk1"/>
              </a:buClr>
              <a:buSzPts val="3000"/>
            </a:pPr>
            <a:r>
              <a:rPr lang="en-US" sz="3200" u="sng" dirty="0">
                <a:solidFill>
                  <a:schemeClr val="tx1"/>
                </a:solidFill>
              </a:rPr>
              <a:t>Team Name - </a:t>
            </a:r>
            <a:r>
              <a:rPr lang="en-US" sz="3200" u="sng" dirty="0" err="1">
                <a:solidFill>
                  <a:schemeClr val="tx1"/>
                </a:solidFill>
              </a:rPr>
              <a:t>MindMesh</a:t>
            </a:r>
            <a:br>
              <a:rPr lang="en-US" sz="3000" i="0" u="sng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3000" i="0" u="sng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Project Name - </a:t>
            </a:r>
            <a:r>
              <a:rPr lang="en-US" sz="3200" u="sng" dirty="0" err="1">
                <a:solidFill>
                  <a:schemeClr val="tx1"/>
                </a:solidFill>
              </a:rPr>
              <a:t>VerdictOS</a:t>
            </a:r>
            <a:r>
              <a:rPr lang="en-US" sz="3200" u="sng" dirty="0">
                <a:solidFill>
                  <a:schemeClr val="tx1"/>
                </a:solidFill>
              </a:rPr>
              <a:t> </a:t>
            </a:r>
            <a:r>
              <a:rPr lang="en-US" sz="3000" i="0" u="sng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​</a:t>
            </a:r>
            <a:endParaRPr sz="3000" i="0" u="sng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9CA75988-016E-4EBD-2609-D9AE29ADAAC1}"/>
              </a:ext>
            </a:extLst>
          </p:cNvPr>
          <p:cNvSpPr txBox="1">
            <a:spLocks/>
          </p:cNvSpPr>
          <p:nvPr/>
        </p:nvSpPr>
        <p:spPr>
          <a:xfrm>
            <a:off x="830003" y="4550678"/>
            <a:ext cx="2572633" cy="923329"/>
          </a:xfrm>
          <a:prstGeom prst="rect">
            <a:avLst/>
          </a:prstGeom>
        </p:spPr>
        <p:txBody>
          <a:bodyPr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800" dirty="0"/>
              <a:t>Hardeep Singh </a:t>
            </a:r>
            <a:br>
              <a:rPr lang="en-US" sz="1800" dirty="0"/>
            </a:br>
            <a:r>
              <a:rPr lang="en-US" sz="1800" dirty="0"/>
              <a:t>Senior Consultant</a:t>
            </a:r>
            <a:br>
              <a:rPr lang="en-US" sz="1800" dirty="0"/>
            </a:br>
            <a:r>
              <a:rPr lang="en-US" sz="1800" dirty="0"/>
              <a:t>(hsingh1@tsp.tech)</a:t>
            </a:r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7BE865FE-A267-5D22-B658-C33A4D665E1F}"/>
              </a:ext>
            </a:extLst>
          </p:cNvPr>
          <p:cNvSpPr txBox="1">
            <a:spLocks/>
          </p:cNvSpPr>
          <p:nvPr/>
        </p:nvSpPr>
        <p:spPr>
          <a:xfrm>
            <a:off x="9145366" y="4724516"/>
            <a:ext cx="2395546" cy="803753"/>
          </a:xfrm>
          <a:prstGeom prst="rect">
            <a:avLst/>
          </a:prstGeom>
        </p:spPr>
        <p:txBody>
          <a:bodyPr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800" dirty="0"/>
              <a:t>Ashish Negi</a:t>
            </a:r>
          </a:p>
          <a:p>
            <a:r>
              <a:rPr lang="en-US" sz="1800" dirty="0"/>
              <a:t>Senior Consultant</a:t>
            </a:r>
            <a:br>
              <a:rPr lang="en-US" sz="1800" dirty="0"/>
            </a:br>
            <a:r>
              <a:rPr lang="en-US" sz="1800" dirty="0"/>
              <a:t>(anegi1@tsp.tech)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1A013A6C-A828-3437-FD19-809904DC22D3}"/>
              </a:ext>
            </a:extLst>
          </p:cNvPr>
          <p:cNvSpPr txBox="1">
            <a:spLocks/>
          </p:cNvSpPr>
          <p:nvPr/>
        </p:nvSpPr>
        <p:spPr>
          <a:xfrm>
            <a:off x="3481139" y="4653807"/>
            <a:ext cx="2572633" cy="803754"/>
          </a:xfrm>
          <a:prstGeom prst="rect">
            <a:avLst/>
          </a:prstGeom>
        </p:spPr>
        <p:txBody>
          <a:bodyPr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800" dirty="0"/>
              <a:t>Nawazish Ahmad</a:t>
            </a:r>
          </a:p>
          <a:p>
            <a:r>
              <a:rPr lang="en-US" sz="1800" dirty="0"/>
              <a:t>Consultant</a:t>
            </a:r>
            <a:br>
              <a:rPr lang="en-US" sz="1800" dirty="0"/>
            </a:br>
            <a:r>
              <a:rPr lang="en-US" sz="1800" dirty="0"/>
              <a:t>(</a:t>
            </a:r>
            <a:r>
              <a:rPr lang="en-US" sz="1800" dirty="0" err="1"/>
              <a:t>nahmad@tsp.tech</a:t>
            </a:r>
            <a:r>
              <a:rPr lang="en-US" sz="1800" dirty="0"/>
              <a:t>)</a:t>
            </a:r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BD0762DA-B5EA-321B-217B-50BAB26D4C1B}"/>
              </a:ext>
            </a:extLst>
          </p:cNvPr>
          <p:cNvSpPr txBox="1">
            <a:spLocks/>
          </p:cNvSpPr>
          <p:nvPr/>
        </p:nvSpPr>
        <p:spPr>
          <a:xfrm>
            <a:off x="6274001" y="4795394"/>
            <a:ext cx="2395546" cy="803753"/>
          </a:xfrm>
          <a:prstGeom prst="rect">
            <a:avLst/>
          </a:prstGeom>
        </p:spPr>
        <p:txBody>
          <a:bodyPr vert="horz" lIns="91440" tIns="0" rIns="91440" bIns="45720" rtlCol="0" anchor="b" anchorCtr="1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1" kern="12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500" b="0" kern="1200" spc="-3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500" b="0" kern="1200" spc="-3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500" b="0" kern="1200" spc="-3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500" b="0" kern="1200" spc="-3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0" dirty="0"/>
              <a:t>Gitish Arora</a:t>
            </a:r>
          </a:p>
          <a:p>
            <a:pPr marL="0" indent="0">
              <a:buNone/>
            </a:pPr>
            <a:r>
              <a:rPr lang="en-US" sz="1800" b="0" dirty="0"/>
              <a:t>Consultant</a:t>
            </a:r>
            <a:br>
              <a:rPr lang="en-US" sz="1800" b="0" dirty="0"/>
            </a:br>
            <a:r>
              <a:rPr lang="en-US" sz="1800" b="0" dirty="0"/>
              <a:t>(garora1@tsp.tech)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050EA80-2DAD-156A-0071-B1367EC7D396}"/>
              </a:ext>
            </a:extLst>
          </p:cNvPr>
          <p:cNvSpPr/>
          <p:nvPr/>
        </p:nvSpPr>
        <p:spPr>
          <a:xfrm>
            <a:off x="3227702" y="2267571"/>
            <a:ext cx="2481194" cy="2198865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6AE3A13-A2D1-58B7-1C70-3DF1D07F8B42}"/>
              </a:ext>
            </a:extLst>
          </p:cNvPr>
          <p:cNvSpPr/>
          <p:nvPr/>
        </p:nvSpPr>
        <p:spPr>
          <a:xfrm>
            <a:off x="5886138" y="2314628"/>
            <a:ext cx="2608950" cy="2229891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D7B5EEE-4777-3B46-9402-00DE4D5E49D0}"/>
              </a:ext>
            </a:extLst>
          </p:cNvPr>
          <p:cNvSpPr/>
          <p:nvPr/>
        </p:nvSpPr>
        <p:spPr>
          <a:xfrm>
            <a:off x="541088" y="2147888"/>
            <a:ext cx="2481194" cy="2198865"/>
          </a:xfrm>
          <a:prstGeom prst="ellipse">
            <a:avLst/>
          </a:prstGeom>
          <a:blipFill>
            <a:blip r:embed="rId5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A311C61-1C28-8B96-6052-EEE3C52EB7D4}"/>
              </a:ext>
            </a:extLst>
          </p:cNvPr>
          <p:cNvSpPr/>
          <p:nvPr/>
        </p:nvSpPr>
        <p:spPr>
          <a:xfrm>
            <a:off x="8681925" y="2314628"/>
            <a:ext cx="2608950" cy="2229891"/>
          </a:xfrm>
          <a:prstGeom prst="ellipse">
            <a:avLst/>
          </a:prstGeom>
          <a:blipFill>
            <a:blip r:embed="rId6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"/>
          <p:cNvSpPr txBox="1">
            <a:spLocks noGrp="1"/>
          </p:cNvSpPr>
          <p:nvPr>
            <p:ph type="title"/>
          </p:nvPr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024"/>
              </a:buClr>
              <a:buSzPts val="3000"/>
              <a:buFont typeface="Arial"/>
              <a:buNone/>
            </a:pPr>
            <a:r>
              <a:rPr lang="en-US" u="sng" dirty="0">
                <a:solidFill>
                  <a:srgbClr val="172024"/>
                </a:solidFill>
              </a:rPr>
              <a:t>Problem statement and proposed solution</a:t>
            </a:r>
            <a:endParaRPr u="sng" dirty="0">
              <a:solidFill>
                <a:srgbClr val="172024"/>
              </a:solidFill>
            </a:endParaRPr>
          </a:p>
        </p:txBody>
      </p:sp>
      <p:sp>
        <p:nvSpPr>
          <p:cNvPr id="192" name="Google Shape;192;p3"/>
          <p:cNvSpPr txBox="1">
            <a:spLocks noGrp="1"/>
          </p:cNvSpPr>
          <p:nvPr>
            <p:ph type="sldNum" idx="12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193" name="Google Shape;193;p3"/>
          <p:cNvSpPr txBox="1">
            <a:spLocks noGrp="1"/>
          </p:cNvSpPr>
          <p:nvPr>
            <p:ph type="body" idx="1"/>
          </p:nvPr>
        </p:nvSpPr>
        <p:spPr>
          <a:xfrm>
            <a:off x="360000" y="1440000"/>
            <a:ext cx="50400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u="sng" dirty="0"/>
              <a:t>Problem</a:t>
            </a:r>
            <a:endParaRPr u="sng" dirty="0"/>
          </a:p>
        </p:txBody>
      </p:sp>
      <p:sp>
        <p:nvSpPr>
          <p:cNvPr id="194" name="Google Shape;194;p3"/>
          <p:cNvSpPr txBox="1">
            <a:spLocks noGrp="1"/>
          </p:cNvSpPr>
          <p:nvPr>
            <p:ph type="body" idx="2"/>
          </p:nvPr>
        </p:nvSpPr>
        <p:spPr>
          <a:xfrm>
            <a:off x="360000" y="1871999"/>
            <a:ext cx="5040000" cy="4247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fontAlgn="base"/>
            <a:r>
              <a:rPr lang="en-US" dirty="0"/>
              <a:t>​</a:t>
            </a:r>
          </a:p>
          <a:p>
            <a:pPr fontAlgn="base"/>
            <a:r>
              <a:rPr lang="en-US" dirty="0"/>
              <a:t>• Organizations process thousands of governance, compliance, and risk-related requests every month.​</a:t>
            </a:r>
          </a:p>
          <a:p>
            <a:pPr fontAlgn="base"/>
            <a:r>
              <a:rPr lang="en-US" dirty="0"/>
              <a:t>​</a:t>
            </a:r>
          </a:p>
          <a:p>
            <a:pPr fontAlgn="base"/>
            <a:r>
              <a:rPr lang="en-US" dirty="0"/>
              <a:t>• Manual review processes are slow, inconsistent, and difficult to scale.​</a:t>
            </a:r>
          </a:p>
          <a:p>
            <a:pPr fontAlgn="base"/>
            <a:r>
              <a:rPr lang="en-US" dirty="0"/>
              <a:t>​</a:t>
            </a:r>
          </a:p>
          <a:p>
            <a:pPr fontAlgn="base"/>
            <a:r>
              <a:rPr lang="en-US" dirty="0"/>
              <a:t>• Risk assessment often requires input from multiple teams such as Finance, Legal, Cyber Security, and Compliance.</a:t>
            </a:r>
          </a:p>
          <a:p>
            <a:pPr marL="228600" indent="0"/>
            <a:endParaRPr lang="en-US" b="1" dirty="0">
              <a:solidFill>
                <a:srgbClr val="0C1E4A"/>
              </a:solidFill>
            </a:endParaRPr>
          </a:p>
        </p:txBody>
      </p:sp>
      <p:sp>
        <p:nvSpPr>
          <p:cNvPr id="195" name="Google Shape;195;p3"/>
          <p:cNvSpPr txBox="1">
            <a:spLocks noGrp="1"/>
          </p:cNvSpPr>
          <p:nvPr>
            <p:ph type="body" idx="3"/>
          </p:nvPr>
        </p:nvSpPr>
        <p:spPr>
          <a:xfrm>
            <a:off x="6089650" y="1440000"/>
            <a:ext cx="50400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u="sng" dirty="0"/>
              <a:t>Solution</a:t>
            </a:r>
            <a:endParaRPr u="sng" dirty="0"/>
          </a:p>
        </p:txBody>
      </p:sp>
      <p:sp>
        <p:nvSpPr>
          <p:cNvPr id="196" name="Google Shape;196;p3"/>
          <p:cNvSpPr txBox="1">
            <a:spLocks noGrp="1"/>
          </p:cNvSpPr>
          <p:nvPr>
            <p:ph type="body" idx="4"/>
          </p:nvPr>
        </p:nvSpPr>
        <p:spPr>
          <a:xfrm>
            <a:off x="6089650" y="2116183"/>
            <a:ext cx="5040000" cy="4003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514350" indent="-285750" fontAlgn="base">
              <a:buFont typeface="Arial" panose="020B0604020202020204" pitchFamily="34" charset="0"/>
              <a:buChar char="•"/>
            </a:pPr>
            <a:r>
              <a:rPr lang="en-US" dirty="0" err="1"/>
              <a:t>VerdictOS</a:t>
            </a:r>
            <a:r>
              <a:rPr lang="en-US" dirty="0"/>
              <a:t> is an Agentic Governance Platform built on UiPath.​</a:t>
            </a:r>
          </a:p>
          <a:p>
            <a:pPr marL="514350" indent="-285750" fontAlgn="base">
              <a:buFont typeface="Arial" panose="020B0604020202020204" pitchFamily="34" charset="0"/>
              <a:buChar char="•"/>
            </a:pPr>
            <a:r>
              <a:rPr lang="en-US" dirty="0"/>
              <a:t>The platform automatically ingests requests, extracts data, business context, and orchestrates multiple AI agents to evaluate financial, legal, cyber, reputation, and behavioral risks.​</a:t>
            </a:r>
          </a:p>
          <a:p>
            <a:pPr marL="514350" indent="-285750" fontAlgn="base">
              <a:buFont typeface="Arial" panose="020B0604020202020204" pitchFamily="34" charset="0"/>
              <a:buChar char="•"/>
            </a:pPr>
            <a:r>
              <a:rPr lang="en-US" dirty="0"/>
              <a:t>A Debate Agent consolidates findings and recommends approval, rejection, or escalation before human review and final execution.​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4"/>
          <p:cNvSpPr txBox="1"/>
          <p:nvPr/>
        </p:nvSpPr>
        <p:spPr>
          <a:xfrm>
            <a:off x="259203" y="360000"/>
            <a:ext cx="9000000" cy="499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-US" sz="3000" b="1" i="0" u="sng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Benefits and technologies used</a:t>
            </a:r>
            <a:endParaRPr sz="3000" b="1" i="0" u="sng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4"/>
          <p:cNvSpPr txBox="1">
            <a:spLocks noGrp="1"/>
          </p:cNvSpPr>
          <p:nvPr>
            <p:ph type="sldNum" idx="12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graphicFrame>
        <p:nvGraphicFramePr>
          <p:cNvPr id="203" name="Google Shape;203;p4"/>
          <p:cNvGraphicFramePr/>
          <p:nvPr>
            <p:extLst>
              <p:ext uri="{D42A27DB-BD31-4B8C-83A1-F6EECF244321}">
                <p14:modId xmlns:p14="http://schemas.microsoft.com/office/powerpoint/2010/main" val="1262572456"/>
              </p:ext>
            </p:extLst>
          </p:nvPr>
        </p:nvGraphicFramePr>
        <p:xfrm>
          <a:off x="359999" y="1506261"/>
          <a:ext cx="5006650" cy="5199339"/>
        </p:xfrm>
        <a:graphic>
          <a:graphicData uri="http://schemas.openxmlformats.org/drawingml/2006/table">
            <a:tbl>
              <a:tblPr>
                <a:noFill/>
                <a:tableStyleId>{C6BD176B-B367-48D6-A09C-E4AB94313932}</a:tableStyleId>
              </a:tblPr>
              <a:tblGrid>
                <a:gridCol w="2503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3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52653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9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End-user​</a:t>
                      </a:r>
                      <a:endParaRPr sz="1200" b="1" i="0" u="none" strike="noStrike" cap="none">
                        <a:solidFill>
                          <a:srgbClr val="FFFFFF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32C4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2C4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375" cap="flat" cmpd="sng">
                      <a:solidFill>
                        <a:srgbClr val="DF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A2B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dirty="0">
                          <a:solidFill>
                            <a:srgbClr val="0D1B30"/>
                          </a:solidFill>
                          <a:latin typeface="Aptos"/>
                        </a:rPr>
                        <a:t>Finance Analysts • Procurement Teams • Compliance Officers
Risk Management Teams • Internal Auditors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2C4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2C4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375" cap="flat" cmpd="sng">
                      <a:solidFill>
                        <a:srgbClr val="DF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A2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486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9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User department</a:t>
                      </a: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​</a:t>
                      </a:r>
                      <a:endParaRPr sz="1200" b="0" i="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32C4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375" cap="flat" cmpd="sng">
                      <a:solidFill>
                        <a:srgbClr val="DF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375" cap="flat" cmpd="sng">
                      <a:solidFill>
                        <a:srgbClr val="DF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A2B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dirty="0">
                          <a:solidFill>
                            <a:srgbClr val="0D1B30"/>
                          </a:solidFill>
                          <a:latin typeface="Aptos"/>
                        </a:rPr>
                        <a:t>Finance • Procurement • Compliance • Governance
Risk &amp; Controls • Internal Audit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2C4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375" cap="flat" cmpd="sng">
                      <a:solidFill>
                        <a:srgbClr val="DF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375" cap="flat" cmpd="sng">
                      <a:solidFill>
                        <a:srgbClr val="DF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A2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922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9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Industries</a:t>
                      </a: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​</a:t>
                      </a:r>
                      <a:endParaRPr sz="1200" b="0" i="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32C4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375" cap="flat" cmpd="sng">
                      <a:solidFill>
                        <a:srgbClr val="DF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375" cap="flat" cmpd="sng">
                      <a:solidFill>
                        <a:srgbClr val="DF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A2B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dirty="0">
                          <a:solidFill>
                            <a:srgbClr val="0D1B30"/>
                          </a:solidFill>
                          <a:latin typeface="Aptos"/>
                        </a:rPr>
                        <a:t>Industry-agnostic solution for enterprise governance</a:t>
                      </a:r>
                      <a:r>
                        <a:rPr lang="en-US" sz="1200" dirty="0">
                          <a:solidFill>
                            <a:srgbClr val="0D1B30"/>
                          </a:solidFill>
                          <a:latin typeface="Aptos"/>
                        </a:rPr>
                        <a:t>.</a:t>
                      </a:r>
                      <a:endParaRPr lang="en-US" sz="1200" b="0" dirty="0">
                        <a:solidFill>
                          <a:srgbClr val="0D1B30"/>
                        </a:solidFill>
                        <a:latin typeface="Aptos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2C4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375" cap="flat" cmpd="sng">
                      <a:solidFill>
                        <a:srgbClr val="DF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375" cap="flat" cmpd="sng">
                      <a:solidFill>
                        <a:srgbClr val="DF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A2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5043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9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UiPath products used</a:t>
                      </a: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​</a:t>
                      </a:r>
                      <a:endParaRPr sz="1200" b="0" i="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32C4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375" cap="flat" cmpd="sng">
                      <a:solidFill>
                        <a:srgbClr val="DF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375" cap="flat" cmpd="sng">
                      <a:solidFill>
                        <a:srgbClr val="DF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A2B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rgbClr val="0D1B30"/>
                          </a:solidFill>
                          <a:latin typeface="Aptos"/>
                        </a:rPr>
                        <a:t>Maestro • Agent Builder • Document Understanding • Action Center
 • Integration Service • Data Fabric • Storage </a:t>
                      </a:r>
                      <a:r>
                        <a:rPr lang="en-US" sz="1200" dirty="0">
                          <a:solidFill>
                            <a:srgbClr val="0D1B30"/>
                          </a:solidFill>
                        </a:rPr>
                        <a:t>Bucket • Asset</a:t>
                      </a:r>
                      <a:endParaRPr lang="en-US" sz="1200" b="0" dirty="0">
                        <a:solidFill>
                          <a:srgbClr val="0D1B30"/>
                        </a:solidFill>
                        <a:latin typeface="Aptos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2C4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375" cap="flat" cmpd="sng">
                      <a:solidFill>
                        <a:srgbClr val="DF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375" cap="flat" cmpd="sng">
                      <a:solidFill>
                        <a:srgbClr val="DFE3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A2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215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79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Other - integrations / APIs / technologies used</a:t>
                      </a: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​</a:t>
                      </a:r>
                      <a:endParaRPr sz="1200" b="0" i="0" u="none" strike="noStrike" cap="none">
                        <a:solidFill>
                          <a:srgbClr val="000000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32C4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375" cap="flat" cmpd="sng">
                      <a:solidFill>
                        <a:srgbClr val="DF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2C4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A2B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rgbClr val="0D1B30"/>
                          </a:solidFill>
                          <a:latin typeface="Aptos"/>
                        </a:rPr>
                        <a:t>ServiceNow </a:t>
                      </a:r>
                      <a:r>
                        <a:rPr lang="en-US" sz="1200" dirty="0">
                          <a:solidFill>
                            <a:srgbClr val="0D1B30"/>
                          </a:solidFill>
                        </a:rPr>
                        <a:t>• </a:t>
                      </a:r>
                      <a:r>
                        <a:rPr lang="en-US" sz="1200" dirty="0" err="1">
                          <a:solidFill>
                            <a:srgbClr val="0D1B30"/>
                          </a:solidFill>
                        </a:rPr>
                        <a:t>ngrok</a:t>
                      </a:r>
                      <a:r>
                        <a:rPr lang="en-US" sz="1200" dirty="0">
                          <a:solidFill>
                            <a:srgbClr val="0D1B30"/>
                          </a:solidFill>
                        </a:rPr>
                        <a:t> </a:t>
                      </a:r>
                      <a:r>
                        <a:rPr lang="en-US" sz="1200" b="0" dirty="0">
                          <a:solidFill>
                            <a:srgbClr val="0D1B30"/>
                          </a:solidFill>
                          <a:latin typeface="Aptos"/>
                        </a:rPr>
                        <a:t>• OpenAI / LLM Models
• Slack 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2C4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375" cap="flat" cmpd="sng">
                      <a:solidFill>
                        <a:srgbClr val="DFE3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2C4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A2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4" name="Google Shape;204;p4"/>
          <p:cNvSpPr/>
          <p:nvPr/>
        </p:nvSpPr>
        <p:spPr>
          <a:xfrm>
            <a:off x="359999" y="859929"/>
            <a:ext cx="10398312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4"/>
          <p:cNvSpPr/>
          <p:nvPr/>
        </p:nvSpPr>
        <p:spPr>
          <a:xfrm>
            <a:off x="6422266" y="859928"/>
            <a:ext cx="5497831" cy="489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sng" strike="noStrike" cap="none" dirty="0">
                <a:solidFill>
                  <a:schemeClr val="dk1"/>
                </a:solidFill>
                <a:sym typeface="Arial"/>
              </a:rPr>
              <a:t>Benefits, impact and outcomes</a:t>
            </a:r>
            <a:endParaRPr u="sng" dirty="0"/>
          </a:p>
        </p:txBody>
      </p:sp>
      <p:sp>
        <p:nvSpPr>
          <p:cNvPr id="206" name="Google Shape;206;p4"/>
          <p:cNvSpPr txBox="1"/>
          <p:nvPr/>
        </p:nvSpPr>
        <p:spPr>
          <a:xfrm>
            <a:off x="6318751" y="1506262"/>
            <a:ext cx="5412813" cy="5199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indent="-285750">
              <a:lnSpc>
                <a:spcPct val="122222"/>
              </a:lnSpc>
              <a:spcBef>
                <a:spcPts val="1000"/>
              </a:spcBef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51F38"/>
                </a:solidFill>
              </a:rPr>
              <a:t>Reduce manual invoice review effort.</a:t>
            </a:r>
          </a:p>
          <a:p>
            <a:pPr marL="285750" indent="-285750">
              <a:lnSpc>
                <a:spcPct val="122222"/>
              </a:lnSpc>
              <a:spcBef>
                <a:spcPts val="1000"/>
              </a:spcBef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51F38"/>
                </a:solidFill>
              </a:rPr>
              <a:t>Improve fraud detection</a:t>
            </a:r>
          </a:p>
          <a:p>
            <a:pPr marL="285750" indent="-285750">
              <a:lnSpc>
                <a:spcPct val="122222"/>
              </a:lnSpc>
              <a:spcBef>
                <a:spcPts val="1000"/>
              </a:spcBef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51F38"/>
                </a:solidFill>
              </a:rPr>
              <a:t>Accelerate payment approval decisions</a:t>
            </a:r>
          </a:p>
          <a:p>
            <a:pPr marL="285750" indent="-285750">
              <a:lnSpc>
                <a:spcPct val="122222"/>
              </a:lnSpc>
              <a:spcBef>
                <a:spcPts val="1000"/>
              </a:spcBef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51F38"/>
                </a:solidFill>
              </a:rPr>
              <a:t>Enable explainable AI decision-making</a:t>
            </a:r>
          </a:p>
          <a:p>
            <a:pPr marL="285750" indent="-285750">
              <a:lnSpc>
                <a:spcPct val="122222"/>
              </a:lnSpc>
              <a:spcBef>
                <a:spcPts val="1000"/>
              </a:spcBef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51F38"/>
                </a:solidFill>
              </a:rPr>
              <a:t>Maintain complete auditability</a:t>
            </a:r>
          </a:p>
          <a:p>
            <a:pPr marL="285750" indent="-285750">
              <a:lnSpc>
                <a:spcPct val="122222"/>
              </a:lnSpc>
              <a:spcBef>
                <a:spcPts val="1000"/>
              </a:spcBef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51F38"/>
                </a:solidFill>
              </a:rPr>
              <a:t>Human review only for exceptions</a:t>
            </a:r>
          </a:p>
          <a:p>
            <a:pPr marL="285750" indent="-285750">
              <a:lnSpc>
                <a:spcPct val="122222"/>
              </a:lnSpc>
              <a:spcBef>
                <a:spcPts val="1000"/>
              </a:spcBef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51F38"/>
                </a:solidFill>
              </a:rPr>
              <a:t>Strengthen compliance governance</a:t>
            </a:r>
          </a:p>
          <a:p>
            <a:pPr marL="285750" indent="-285750">
              <a:lnSpc>
                <a:spcPct val="122222"/>
              </a:lnSpc>
              <a:spcBef>
                <a:spcPts val="1000"/>
              </a:spcBef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endParaRPr lang="en-US" b="1" dirty="0">
              <a:solidFill>
                <a:srgbClr val="051F38"/>
              </a:solidFill>
            </a:endParaRPr>
          </a:p>
          <a:p>
            <a:pPr marR="0" lvl="0" algn="l" rtl="0">
              <a:lnSpc>
                <a:spcPct val="122222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endParaRPr dirty="0"/>
          </a:p>
        </p:txBody>
      </p:sp>
      <p:sp>
        <p:nvSpPr>
          <p:cNvPr id="207" name="Google Shape;207;p4"/>
          <p:cNvSpPr/>
          <p:nvPr/>
        </p:nvSpPr>
        <p:spPr>
          <a:xfrm>
            <a:off x="359999" y="810000"/>
            <a:ext cx="5497831" cy="489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sng" strike="noStrike" cap="none" dirty="0">
                <a:solidFill>
                  <a:schemeClr val="dk1"/>
                </a:solidFill>
                <a:sym typeface="Arial"/>
              </a:rPr>
              <a:t>Details</a:t>
            </a:r>
            <a:endParaRPr u="sng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5"/>
          <p:cNvSpPr txBox="1">
            <a:spLocks noGrp="1"/>
          </p:cNvSpPr>
          <p:nvPr>
            <p:ph type="sldNum" idx="12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213" name="Google Shape;213;p5"/>
          <p:cNvSpPr/>
          <p:nvPr/>
        </p:nvSpPr>
        <p:spPr>
          <a:xfrm>
            <a:off x="359999" y="859929"/>
            <a:ext cx="10398312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5"/>
          <p:cNvSpPr txBox="1"/>
          <p:nvPr/>
        </p:nvSpPr>
        <p:spPr>
          <a:xfrm>
            <a:off x="359999" y="360000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-US" sz="3000" b="1" i="0" u="sng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 architecture</a:t>
            </a:r>
            <a:endParaRPr sz="3000" b="1" i="0" u="sng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5"/>
          <p:cNvSpPr txBox="1"/>
          <p:nvPr/>
        </p:nvSpPr>
        <p:spPr>
          <a:xfrm>
            <a:off x="359999" y="1506260"/>
            <a:ext cx="11459302" cy="4426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60F20EF-317B-0E7B-0683-0B6D900E36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749" y="1138083"/>
            <a:ext cx="11917039" cy="54958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6"/>
          <p:cNvSpPr txBox="1">
            <a:spLocks noGrp="1"/>
          </p:cNvSpPr>
          <p:nvPr>
            <p:ph type="sldNum" idx="12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221" name="Google Shape;221;p6"/>
          <p:cNvSpPr/>
          <p:nvPr/>
        </p:nvSpPr>
        <p:spPr>
          <a:xfrm>
            <a:off x="359999" y="859929"/>
            <a:ext cx="10398312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6"/>
          <p:cNvSpPr txBox="1"/>
          <p:nvPr/>
        </p:nvSpPr>
        <p:spPr>
          <a:xfrm>
            <a:off x="359999" y="518044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defRPr sz="3000" b="1">
                <a:solidFill>
                  <a:srgbClr val="031D39"/>
                </a:solidFill>
                <a:latin typeface="Aptos"/>
              </a:defRPr>
            </a:pPr>
            <a:r>
              <a:rPr lang="en-US" u="sng" dirty="0" err="1"/>
              <a:t>VerdictOS</a:t>
            </a:r>
            <a:r>
              <a:rPr lang="en-US" u="sng" dirty="0"/>
              <a:t> Demo Walkthrough</a:t>
            </a:r>
          </a:p>
        </p:txBody>
      </p:sp>
      <p:sp>
        <p:nvSpPr>
          <p:cNvPr id="249" name="Rounded Rectangle 34">
            <a:extLst>
              <a:ext uri="{FF2B5EF4-FFF2-40B4-BE49-F238E27FC236}">
                <a16:creationId xmlns:a16="http://schemas.microsoft.com/office/drawing/2014/main" id="{A4616AF6-1F98-5F2B-4965-778A912DEC30}"/>
              </a:ext>
            </a:extLst>
          </p:cNvPr>
          <p:cNvSpPr/>
          <p:nvPr/>
        </p:nvSpPr>
        <p:spPr>
          <a:xfrm>
            <a:off x="7004465" y="1281336"/>
            <a:ext cx="4919473" cy="4572104"/>
          </a:xfrm>
          <a:prstGeom prst="roundRect">
            <a:avLst/>
          </a:prstGeom>
          <a:solidFill>
            <a:srgbClr val="E6F7F7"/>
          </a:solidFill>
          <a:ln w="15240">
            <a:solidFill>
              <a:srgbClr val="099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399B6FD7-16D1-11C7-C969-0E80F5ADDB53}"/>
              </a:ext>
            </a:extLst>
          </p:cNvPr>
          <p:cNvSpPr txBox="1"/>
          <p:nvPr/>
        </p:nvSpPr>
        <p:spPr>
          <a:xfrm>
            <a:off x="8090761" y="1369701"/>
            <a:ext cx="2926080" cy="264688"/>
          </a:xfrm>
          <a:prstGeom prst="rect">
            <a:avLst/>
          </a:prstGeom>
          <a:solidFill>
            <a:srgbClr val="E6F7F7"/>
          </a:solidFill>
          <a:ln>
            <a:solidFill>
              <a:srgbClr val="E6F7F7"/>
            </a:solidFill>
          </a:ln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1600" b="1" dirty="0">
                <a:latin typeface="Aptos"/>
              </a:rPr>
              <a:t>SIMPLIFIED AGENTIC REVIEW</a:t>
            </a:r>
          </a:p>
        </p:txBody>
      </p:sp>
      <p:sp>
        <p:nvSpPr>
          <p:cNvPr id="251" name="Oval 250">
            <a:extLst>
              <a:ext uri="{FF2B5EF4-FFF2-40B4-BE49-F238E27FC236}">
                <a16:creationId xmlns:a16="http://schemas.microsoft.com/office/drawing/2014/main" id="{EFF034C3-04B9-0758-A73E-4D960364F1DC}"/>
              </a:ext>
            </a:extLst>
          </p:cNvPr>
          <p:cNvSpPr/>
          <p:nvPr/>
        </p:nvSpPr>
        <p:spPr>
          <a:xfrm>
            <a:off x="7601553" y="1710405"/>
            <a:ext cx="256032" cy="256032"/>
          </a:xfrm>
          <a:prstGeom prst="ellipse">
            <a:avLst/>
          </a:prstGeom>
          <a:solidFill>
            <a:srgbClr val="E6F7F7"/>
          </a:solidFill>
          <a:ln>
            <a:solidFill>
              <a:srgbClr val="099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Aptos"/>
              </a:rPr>
              <a:t>1</a:t>
            </a:r>
            <a:endParaRPr sz="1200" b="1" dirty="0">
              <a:solidFill>
                <a:schemeClr val="tx1"/>
              </a:solidFill>
              <a:latin typeface="Aptos"/>
            </a:endParaRPr>
          </a:p>
        </p:txBody>
      </p:sp>
      <p:sp>
        <p:nvSpPr>
          <p:cNvPr id="252" name="Rounded Rectangle 38">
            <a:extLst>
              <a:ext uri="{FF2B5EF4-FFF2-40B4-BE49-F238E27FC236}">
                <a16:creationId xmlns:a16="http://schemas.microsoft.com/office/drawing/2014/main" id="{25DF2BD8-3987-54D2-C9C9-BD55721F5647}"/>
              </a:ext>
            </a:extLst>
          </p:cNvPr>
          <p:cNvSpPr/>
          <p:nvPr/>
        </p:nvSpPr>
        <p:spPr>
          <a:xfrm>
            <a:off x="8013032" y="1673828"/>
            <a:ext cx="3566160" cy="458993"/>
          </a:xfrm>
          <a:prstGeom prst="roundRect">
            <a:avLst/>
          </a:prstGeom>
          <a:solidFill>
            <a:srgbClr val="E6F7F7"/>
          </a:solidFill>
          <a:ln w="12700">
            <a:solidFill>
              <a:srgbClr val="099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2E179E6C-C13F-8851-F2EC-140428BC0E78}"/>
              </a:ext>
            </a:extLst>
          </p:cNvPr>
          <p:cNvSpPr txBox="1"/>
          <p:nvPr/>
        </p:nvSpPr>
        <p:spPr>
          <a:xfrm>
            <a:off x="8698832" y="1756125"/>
            <a:ext cx="2834799" cy="195438"/>
          </a:xfrm>
          <a:prstGeom prst="rect">
            <a:avLst/>
          </a:prstGeom>
          <a:solidFill>
            <a:srgbClr val="E6F7F7"/>
          </a:solidFill>
          <a:ln>
            <a:solidFill>
              <a:srgbClr val="E6F7F7"/>
            </a:solidFill>
          </a:ln>
        </p:spPr>
        <p:txBody>
          <a:bodyPr wrap="square" lIns="18288" tIns="9144" rIns="18288" bIns="9144">
            <a:spAutoFit/>
          </a:bodyPr>
          <a:lstStyle/>
          <a:p>
            <a:r>
              <a:rPr lang="en-US" sz="1150" b="1" dirty="0">
                <a:solidFill>
                  <a:srgbClr val="051F4B"/>
                </a:solidFill>
              </a:rPr>
              <a:t>AI extracts key details from attachments</a:t>
            </a:r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56F49A8E-7A6D-B766-D7EA-65C25F4755AD}"/>
              </a:ext>
            </a:extLst>
          </p:cNvPr>
          <p:cNvSpPr txBox="1"/>
          <p:nvPr/>
        </p:nvSpPr>
        <p:spPr>
          <a:xfrm>
            <a:off x="8241632" y="1746981"/>
            <a:ext cx="301752" cy="295466"/>
          </a:xfrm>
          <a:prstGeom prst="rect">
            <a:avLst/>
          </a:prstGeom>
          <a:solidFill>
            <a:srgbClr val="E6F7F7"/>
          </a:solidFill>
          <a:ln>
            <a:solidFill>
              <a:srgbClr val="099291"/>
            </a:solidFill>
          </a:ln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1800" b="1" dirty="0">
                <a:solidFill>
                  <a:srgbClr val="099291"/>
                </a:solidFill>
                <a:latin typeface="Aptos"/>
              </a:rPr>
              <a:t>▱</a:t>
            </a:r>
          </a:p>
        </p:txBody>
      </p:sp>
      <p:sp>
        <p:nvSpPr>
          <p:cNvPr id="255" name="Oval 254">
            <a:extLst>
              <a:ext uri="{FF2B5EF4-FFF2-40B4-BE49-F238E27FC236}">
                <a16:creationId xmlns:a16="http://schemas.microsoft.com/office/drawing/2014/main" id="{D14E9F01-E905-504C-2AD6-AE7BB7963C17}"/>
              </a:ext>
            </a:extLst>
          </p:cNvPr>
          <p:cNvSpPr/>
          <p:nvPr/>
        </p:nvSpPr>
        <p:spPr>
          <a:xfrm>
            <a:off x="7601551" y="2456032"/>
            <a:ext cx="256032" cy="256032"/>
          </a:xfrm>
          <a:prstGeom prst="ellipse">
            <a:avLst/>
          </a:prstGeom>
          <a:solidFill>
            <a:srgbClr val="E6F7F7"/>
          </a:solidFill>
          <a:ln>
            <a:solidFill>
              <a:srgbClr val="099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dirty="0">
                <a:solidFill>
                  <a:schemeClr val="tx1"/>
                </a:solidFill>
                <a:latin typeface="Aptos"/>
              </a:rPr>
              <a:t>2</a:t>
            </a:r>
          </a:p>
        </p:txBody>
      </p:sp>
      <p:sp>
        <p:nvSpPr>
          <p:cNvPr id="256" name="Rounded Rectangle 43">
            <a:extLst>
              <a:ext uri="{FF2B5EF4-FFF2-40B4-BE49-F238E27FC236}">
                <a16:creationId xmlns:a16="http://schemas.microsoft.com/office/drawing/2014/main" id="{3F2CB49A-DD21-E9B7-0032-469D4503365F}"/>
              </a:ext>
            </a:extLst>
          </p:cNvPr>
          <p:cNvSpPr/>
          <p:nvPr/>
        </p:nvSpPr>
        <p:spPr>
          <a:xfrm>
            <a:off x="8013030" y="2408731"/>
            <a:ext cx="3520602" cy="384948"/>
          </a:xfrm>
          <a:prstGeom prst="roundRect">
            <a:avLst/>
          </a:prstGeom>
          <a:solidFill>
            <a:srgbClr val="E6F7F7"/>
          </a:solidFill>
          <a:ln w="12700">
            <a:solidFill>
              <a:srgbClr val="099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6067B4FC-04AC-FCE7-1F73-E899EAE3ADEF}"/>
              </a:ext>
            </a:extLst>
          </p:cNvPr>
          <p:cNvSpPr txBox="1"/>
          <p:nvPr/>
        </p:nvSpPr>
        <p:spPr>
          <a:xfrm>
            <a:off x="8698831" y="2480583"/>
            <a:ext cx="2103120" cy="195438"/>
          </a:xfrm>
          <a:prstGeom prst="rect">
            <a:avLst/>
          </a:prstGeom>
          <a:solidFill>
            <a:srgbClr val="E6F7F7"/>
          </a:solidFill>
          <a:ln>
            <a:solidFill>
              <a:srgbClr val="E6F7F7"/>
            </a:solidFill>
          </a:ln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lang="en-US" sz="1150" b="1" dirty="0">
                <a:solidFill>
                  <a:srgbClr val="051F4B"/>
                </a:solidFill>
                <a:latin typeface="Aptos"/>
              </a:rPr>
              <a:t>Data Fabric (Previous record)</a:t>
            </a:r>
            <a:endParaRPr sz="1150" b="1" dirty="0">
              <a:solidFill>
                <a:srgbClr val="051F4B"/>
              </a:solidFill>
              <a:latin typeface="Aptos"/>
            </a:endParaRPr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15A3A40E-C394-9E29-8641-127740D28AB2}"/>
              </a:ext>
            </a:extLst>
          </p:cNvPr>
          <p:cNvSpPr txBox="1"/>
          <p:nvPr/>
        </p:nvSpPr>
        <p:spPr>
          <a:xfrm>
            <a:off x="8241630" y="2471439"/>
            <a:ext cx="301752" cy="295466"/>
          </a:xfrm>
          <a:prstGeom prst="rect">
            <a:avLst/>
          </a:prstGeom>
          <a:solidFill>
            <a:srgbClr val="E6F7F7"/>
          </a:solidFill>
          <a:ln>
            <a:solidFill>
              <a:srgbClr val="099291"/>
            </a:solidFill>
          </a:ln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1800" b="1" dirty="0">
                <a:solidFill>
                  <a:srgbClr val="099291"/>
                </a:solidFill>
                <a:latin typeface="Aptos"/>
              </a:rPr>
              <a:t>◯</a:t>
            </a:r>
          </a:p>
        </p:txBody>
      </p:sp>
      <p:sp>
        <p:nvSpPr>
          <p:cNvPr id="259" name="Oval 258">
            <a:extLst>
              <a:ext uri="{FF2B5EF4-FFF2-40B4-BE49-F238E27FC236}">
                <a16:creationId xmlns:a16="http://schemas.microsoft.com/office/drawing/2014/main" id="{73863DA2-2ACC-26AB-75BA-7DEF087F31DA}"/>
              </a:ext>
            </a:extLst>
          </p:cNvPr>
          <p:cNvSpPr/>
          <p:nvPr/>
        </p:nvSpPr>
        <p:spPr>
          <a:xfrm>
            <a:off x="7601554" y="3356103"/>
            <a:ext cx="256032" cy="256032"/>
          </a:xfrm>
          <a:prstGeom prst="ellipse">
            <a:avLst/>
          </a:prstGeom>
          <a:solidFill>
            <a:srgbClr val="E6F7F7"/>
          </a:solidFill>
          <a:ln>
            <a:solidFill>
              <a:srgbClr val="099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dirty="0">
                <a:solidFill>
                  <a:schemeClr val="tx1"/>
                </a:solidFill>
                <a:latin typeface="Aptos"/>
              </a:rPr>
              <a:t>3</a:t>
            </a:r>
          </a:p>
        </p:txBody>
      </p:sp>
      <p:sp>
        <p:nvSpPr>
          <p:cNvPr id="260" name="Rounded Rectangle 48">
            <a:extLst>
              <a:ext uri="{FF2B5EF4-FFF2-40B4-BE49-F238E27FC236}">
                <a16:creationId xmlns:a16="http://schemas.microsoft.com/office/drawing/2014/main" id="{333963E0-4A5F-E891-2D2B-8AA9C817D26F}"/>
              </a:ext>
            </a:extLst>
          </p:cNvPr>
          <p:cNvSpPr/>
          <p:nvPr/>
        </p:nvSpPr>
        <p:spPr>
          <a:xfrm>
            <a:off x="8026246" y="3167185"/>
            <a:ext cx="3552946" cy="674736"/>
          </a:xfrm>
          <a:prstGeom prst="roundRect">
            <a:avLst/>
          </a:prstGeom>
          <a:solidFill>
            <a:srgbClr val="E6F7F7"/>
          </a:solidFill>
          <a:ln w="12700">
            <a:solidFill>
              <a:srgbClr val="099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82C6ABF8-FD7E-00F4-C74A-C8932846BE29}"/>
              </a:ext>
            </a:extLst>
          </p:cNvPr>
          <p:cNvSpPr txBox="1"/>
          <p:nvPr/>
        </p:nvSpPr>
        <p:spPr>
          <a:xfrm>
            <a:off x="8854282" y="3187425"/>
            <a:ext cx="1463040" cy="195438"/>
          </a:xfrm>
          <a:prstGeom prst="rect">
            <a:avLst/>
          </a:prstGeom>
          <a:solidFill>
            <a:srgbClr val="E6F7F7"/>
          </a:solidFill>
          <a:ln>
            <a:solidFill>
              <a:srgbClr val="E6F7F7"/>
            </a:solidFill>
          </a:ln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1150" b="1" dirty="0">
                <a:solidFill>
                  <a:srgbClr val="051F4B"/>
                </a:solidFill>
                <a:latin typeface="Aptos"/>
              </a:rPr>
              <a:t>Specialist Agents</a:t>
            </a:r>
          </a:p>
        </p:txBody>
      </p:sp>
      <p:sp>
        <p:nvSpPr>
          <p:cNvPr id="262" name="Rounded Rectangle 50">
            <a:extLst>
              <a:ext uri="{FF2B5EF4-FFF2-40B4-BE49-F238E27FC236}">
                <a16:creationId xmlns:a16="http://schemas.microsoft.com/office/drawing/2014/main" id="{E21195B9-AACB-F0A2-4566-FB809C74C79A}"/>
              </a:ext>
            </a:extLst>
          </p:cNvPr>
          <p:cNvSpPr/>
          <p:nvPr/>
        </p:nvSpPr>
        <p:spPr>
          <a:xfrm>
            <a:off x="8903214" y="3410962"/>
            <a:ext cx="457200" cy="384048"/>
          </a:xfrm>
          <a:prstGeom prst="roundRect">
            <a:avLst/>
          </a:prstGeom>
          <a:solidFill>
            <a:srgbClr val="E6F7F7"/>
          </a:solidFill>
          <a:ln w="10160">
            <a:solidFill>
              <a:srgbClr val="099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94445A23-AA5B-F0B1-6ED1-EA12547EA47B}"/>
              </a:ext>
            </a:extLst>
          </p:cNvPr>
          <p:cNvSpPr txBox="1"/>
          <p:nvPr/>
        </p:nvSpPr>
        <p:spPr>
          <a:xfrm>
            <a:off x="8976366" y="3438394"/>
            <a:ext cx="310896" cy="203133"/>
          </a:xfrm>
          <a:prstGeom prst="rect">
            <a:avLst/>
          </a:prstGeom>
          <a:solidFill>
            <a:srgbClr val="E6F7F7"/>
          </a:solidFill>
          <a:ln>
            <a:solidFill>
              <a:srgbClr val="E6F7F7"/>
            </a:solidFill>
          </a:ln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1200" b="1" dirty="0">
                <a:solidFill>
                  <a:schemeClr val="accent1"/>
                </a:solidFill>
                <a:latin typeface="Aptos"/>
              </a:rPr>
              <a:t>₹</a:t>
            </a:r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FDF9095D-563E-4325-D0AB-81FD3688BE56}"/>
              </a:ext>
            </a:extLst>
          </p:cNvPr>
          <p:cNvSpPr txBox="1"/>
          <p:nvPr/>
        </p:nvSpPr>
        <p:spPr>
          <a:xfrm>
            <a:off x="8930646" y="3621274"/>
            <a:ext cx="402336" cy="128016"/>
          </a:xfrm>
          <a:prstGeom prst="rect">
            <a:avLst/>
          </a:prstGeom>
          <a:solidFill>
            <a:srgbClr val="E6F7F7"/>
          </a:solidFill>
          <a:ln>
            <a:solidFill>
              <a:srgbClr val="E6F7F7"/>
            </a:solidFill>
          </a:ln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680" b="1">
                <a:solidFill>
                  <a:srgbClr val="0C1424"/>
                </a:solidFill>
                <a:latin typeface="Aptos"/>
              </a:rPr>
              <a:t>Finance</a:t>
            </a:r>
          </a:p>
        </p:txBody>
      </p:sp>
      <p:sp>
        <p:nvSpPr>
          <p:cNvPr id="265" name="Rounded Rectangle 53">
            <a:extLst>
              <a:ext uri="{FF2B5EF4-FFF2-40B4-BE49-F238E27FC236}">
                <a16:creationId xmlns:a16="http://schemas.microsoft.com/office/drawing/2014/main" id="{2A4458B7-8A40-FF23-6D98-33EFD6208A26}"/>
              </a:ext>
            </a:extLst>
          </p:cNvPr>
          <p:cNvSpPr/>
          <p:nvPr/>
        </p:nvSpPr>
        <p:spPr>
          <a:xfrm>
            <a:off x="9460998" y="3410962"/>
            <a:ext cx="457200" cy="384048"/>
          </a:xfrm>
          <a:prstGeom prst="roundRect">
            <a:avLst/>
          </a:prstGeom>
          <a:solidFill>
            <a:srgbClr val="E6F7F7"/>
          </a:solidFill>
          <a:ln w="10160">
            <a:solidFill>
              <a:srgbClr val="099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6" name="TextBox 265">
            <a:extLst>
              <a:ext uri="{FF2B5EF4-FFF2-40B4-BE49-F238E27FC236}">
                <a16:creationId xmlns:a16="http://schemas.microsoft.com/office/drawing/2014/main" id="{D540CA8D-0B67-52F2-287C-5DC95CC7DB5E}"/>
              </a:ext>
            </a:extLst>
          </p:cNvPr>
          <p:cNvSpPr txBox="1"/>
          <p:nvPr/>
        </p:nvSpPr>
        <p:spPr>
          <a:xfrm>
            <a:off x="9534150" y="3438394"/>
            <a:ext cx="310896" cy="203133"/>
          </a:xfrm>
          <a:prstGeom prst="rect">
            <a:avLst/>
          </a:prstGeom>
          <a:solidFill>
            <a:srgbClr val="E6F7F7"/>
          </a:solidFill>
          <a:ln>
            <a:solidFill>
              <a:srgbClr val="E6F7F7"/>
            </a:solidFill>
          </a:ln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1200" b="1" dirty="0">
                <a:solidFill>
                  <a:schemeClr val="accent1"/>
                </a:solidFill>
                <a:latin typeface="Aptos"/>
              </a:rPr>
              <a:t>⚖</a:t>
            </a:r>
          </a:p>
        </p:txBody>
      </p:sp>
      <p:sp>
        <p:nvSpPr>
          <p:cNvPr id="267" name="TextBox 266">
            <a:extLst>
              <a:ext uri="{FF2B5EF4-FFF2-40B4-BE49-F238E27FC236}">
                <a16:creationId xmlns:a16="http://schemas.microsoft.com/office/drawing/2014/main" id="{3B1E0503-F83E-E36A-63AE-4CC4E85C14DC}"/>
              </a:ext>
            </a:extLst>
          </p:cNvPr>
          <p:cNvSpPr txBox="1"/>
          <p:nvPr/>
        </p:nvSpPr>
        <p:spPr>
          <a:xfrm>
            <a:off x="9488430" y="3621274"/>
            <a:ext cx="402336" cy="128016"/>
          </a:xfrm>
          <a:prstGeom prst="rect">
            <a:avLst/>
          </a:prstGeom>
          <a:solidFill>
            <a:srgbClr val="E6F7F7"/>
          </a:solidFill>
          <a:ln>
            <a:solidFill>
              <a:srgbClr val="E6F7F7"/>
            </a:solidFill>
          </a:ln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680" b="1">
                <a:solidFill>
                  <a:srgbClr val="0C1424"/>
                </a:solidFill>
                <a:latin typeface="Aptos"/>
              </a:rPr>
              <a:t>Legal</a:t>
            </a:r>
          </a:p>
        </p:txBody>
      </p:sp>
      <p:sp>
        <p:nvSpPr>
          <p:cNvPr id="268" name="Rounded Rectangle 56">
            <a:extLst>
              <a:ext uri="{FF2B5EF4-FFF2-40B4-BE49-F238E27FC236}">
                <a16:creationId xmlns:a16="http://schemas.microsoft.com/office/drawing/2014/main" id="{14C50F2A-33B3-7F0B-0CCE-BED248EFE20E}"/>
              </a:ext>
            </a:extLst>
          </p:cNvPr>
          <p:cNvSpPr/>
          <p:nvPr/>
        </p:nvSpPr>
        <p:spPr>
          <a:xfrm>
            <a:off x="10018783" y="3410962"/>
            <a:ext cx="457200" cy="384048"/>
          </a:xfrm>
          <a:prstGeom prst="roundRect">
            <a:avLst/>
          </a:prstGeom>
          <a:solidFill>
            <a:srgbClr val="E6F7F7"/>
          </a:solidFill>
          <a:ln w="10160">
            <a:solidFill>
              <a:srgbClr val="099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210DFA8B-1AF0-3215-9138-52CDBBF436FC}"/>
              </a:ext>
            </a:extLst>
          </p:cNvPr>
          <p:cNvSpPr txBox="1"/>
          <p:nvPr/>
        </p:nvSpPr>
        <p:spPr>
          <a:xfrm>
            <a:off x="10091935" y="3438394"/>
            <a:ext cx="310896" cy="203133"/>
          </a:xfrm>
          <a:prstGeom prst="rect">
            <a:avLst/>
          </a:prstGeom>
          <a:solidFill>
            <a:srgbClr val="E6F7F7"/>
          </a:solidFill>
          <a:ln>
            <a:solidFill>
              <a:srgbClr val="E6F7F7"/>
            </a:solidFill>
          </a:ln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1200" b="1" dirty="0">
                <a:solidFill>
                  <a:schemeClr val="accent1"/>
                </a:solidFill>
                <a:latin typeface="Aptos"/>
              </a:rPr>
              <a:t>♙</a:t>
            </a:r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E998C9AD-D6C8-6950-7215-9537FCC53A5D}"/>
              </a:ext>
            </a:extLst>
          </p:cNvPr>
          <p:cNvSpPr txBox="1"/>
          <p:nvPr/>
        </p:nvSpPr>
        <p:spPr>
          <a:xfrm>
            <a:off x="10046215" y="3621274"/>
            <a:ext cx="402336" cy="128016"/>
          </a:xfrm>
          <a:prstGeom prst="rect">
            <a:avLst/>
          </a:prstGeom>
          <a:solidFill>
            <a:srgbClr val="E6F7F7"/>
          </a:solidFill>
          <a:ln>
            <a:solidFill>
              <a:srgbClr val="E6F7F7"/>
            </a:solidFill>
          </a:ln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680" b="1">
                <a:solidFill>
                  <a:srgbClr val="0C1424"/>
                </a:solidFill>
                <a:latin typeface="Aptos"/>
              </a:rPr>
              <a:t>Cyber</a:t>
            </a:r>
          </a:p>
        </p:txBody>
      </p:sp>
      <p:sp>
        <p:nvSpPr>
          <p:cNvPr id="271" name="TextBox 270">
            <a:extLst>
              <a:ext uri="{FF2B5EF4-FFF2-40B4-BE49-F238E27FC236}">
                <a16:creationId xmlns:a16="http://schemas.microsoft.com/office/drawing/2014/main" id="{08719D14-300F-A937-6F64-6D015FF4CA9C}"/>
              </a:ext>
            </a:extLst>
          </p:cNvPr>
          <p:cNvSpPr txBox="1"/>
          <p:nvPr/>
        </p:nvSpPr>
        <p:spPr>
          <a:xfrm>
            <a:off x="9553801" y="3850083"/>
            <a:ext cx="146982" cy="203133"/>
          </a:xfrm>
          <a:prstGeom prst="rect">
            <a:avLst/>
          </a:prstGeom>
          <a:solidFill>
            <a:srgbClr val="E6F7F7"/>
          </a:solidFill>
          <a:ln>
            <a:solidFill>
              <a:srgbClr val="E6F7F7"/>
            </a:solidFill>
          </a:ln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1200" b="1" dirty="0">
                <a:solidFill>
                  <a:schemeClr val="accent1"/>
                </a:solidFill>
                <a:latin typeface="Aptos"/>
              </a:rPr>
              <a:t>↓</a:t>
            </a:r>
          </a:p>
        </p:txBody>
      </p:sp>
      <p:sp>
        <p:nvSpPr>
          <p:cNvPr id="272" name="Oval 271">
            <a:extLst>
              <a:ext uri="{FF2B5EF4-FFF2-40B4-BE49-F238E27FC236}">
                <a16:creationId xmlns:a16="http://schemas.microsoft.com/office/drawing/2014/main" id="{8B1B714C-F5ED-2E95-A82A-A07F735462B4}"/>
              </a:ext>
            </a:extLst>
          </p:cNvPr>
          <p:cNvSpPr/>
          <p:nvPr/>
        </p:nvSpPr>
        <p:spPr>
          <a:xfrm>
            <a:off x="7601554" y="4033945"/>
            <a:ext cx="256032" cy="256032"/>
          </a:xfrm>
          <a:prstGeom prst="ellipse">
            <a:avLst/>
          </a:prstGeom>
          <a:solidFill>
            <a:srgbClr val="E6F7F7"/>
          </a:solidFill>
          <a:ln>
            <a:solidFill>
              <a:srgbClr val="099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dirty="0">
                <a:solidFill>
                  <a:schemeClr val="tx1"/>
                </a:solidFill>
                <a:latin typeface="Aptos"/>
              </a:rPr>
              <a:t>4</a:t>
            </a:r>
          </a:p>
        </p:txBody>
      </p:sp>
      <p:sp>
        <p:nvSpPr>
          <p:cNvPr id="273" name="Rounded Rectangle 70">
            <a:extLst>
              <a:ext uri="{FF2B5EF4-FFF2-40B4-BE49-F238E27FC236}">
                <a16:creationId xmlns:a16="http://schemas.microsoft.com/office/drawing/2014/main" id="{93229C78-50F6-4756-795F-B1B3DB058F4C}"/>
              </a:ext>
            </a:extLst>
          </p:cNvPr>
          <p:cNvSpPr/>
          <p:nvPr/>
        </p:nvSpPr>
        <p:spPr>
          <a:xfrm>
            <a:off x="8013033" y="3997369"/>
            <a:ext cx="3566160" cy="475488"/>
          </a:xfrm>
          <a:prstGeom prst="roundRect">
            <a:avLst/>
          </a:prstGeom>
          <a:solidFill>
            <a:srgbClr val="E6F7F7"/>
          </a:solidFill>
          <a:ln w="12700">
            <a:solidFill>
              <a:srgbClr val="099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4" name="TextBox 273">
            <a:extLst>
              <a:ext uri="{FF2B5EF4-FFF2-40B4-BE49-F238E27FC236}">
                <a16:creationId xmlns:a16="http://schemas.microsoft.com/office/drawing/2014/main" id="{28F7BAAA-7A6A-781A-BB22-8E772021814D}"/>
              </a:ext>
            </a:extLst>
          </p:cNvPr>
          <p:cNvSpPr txBox="1"/>
          <p:nvPr/>
        </p:nvSpPr>
        <p:spPr>
          <a:xfrm>
            <a:off x="8232490" y="4125385"/>
            <a:ext cx="338328" cy="249299"/>
          </a:xfrm>
          <a:prstGeom prst="rect">
            <a:avLst/>
          </a:prstGeom>
          <a:solidFill>
            <a:srgbClr val="E6F7F7"/>
          </a:solidFill>
          <a:ln>
            <a:solidFill>
              <a:srgbClr val="099291"/>
            </a:solidFill>
          </a:ln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1500" b="1" dirty="0">
                <a:solidFill>
                  <a:schemeClr val="accent1"/>
                </a:solidFill>
                <a:latin typeface="Aptos"/>
              </a:rPr>
              <a:t>⚖</a:t>
            </a:r>
          </a:p>
        </p:txBody>
      </p:sp>
      <p:sp>
        <p:nvSpPr>
          <p:cNvPr id="275" name="TextBox 274">
            <a:extLst>
              <a:ext uri="{FF2B5EF4-FFF2-40B4-BE49-F238E27FC236}">
                <a16:creationId xmlns:a16="http://schemas.microsoft.com/office/drawing/2014/main" id="{F4417738-F3F3-4A4B-8024-5530364DA998}"/>
              </a:ext>
            </a:extLst>
          </p:cNvPr>
          <p:cNvSpPr txBox="1"/>
          <p:nvPr/>
        </p:nvSpPr>
        <p:spPr>
          <a:xfrm>
            <a:off x="8890858" y="4032421"/>
            <a:ext cx="1417320" cy="164592"/>
          </a:xfrm>
          <a:prstGeom prst="rect">
            <a:avLst/>
          </a:prstGeom>
          <a:solidFill>
            <a:srgbClr val="E6F7F7"/>
          </a:solidFill>
          <a:ln>
            <a:solidFill>
              <a:srgbClr val="E6F7F7"/>
            </a:solidFill>
          </a:ln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1150" b="1" dirty="0">
                <a:solidFill>
                  <a:srgbClr val="051F4B"/>
                </a:solidFill>
                <a:latin typeface="Aptos"/>
              </a:rPr>
              <a:t>Debate Agent</a:t>
            </a:r>
          </a:p>
        </p:txBody>
      </p:sp>
      <p:sp>
        <p:nvSpPr>
          <p:cNvPr id="276" name="TextBox 275">
            <a:extLst>
              <a:ext uri="{FF2B5EF4-FFF2-40B4-BE49-F238E27FC236}">
                <a16:creationId xmlns:a16="http://schemas.microsoft.com/office/drawing/2014/main" id="{5BF4F95B-4E4D-085E-1E30-56E9532561CC}"/>
              </a:ext>
            </a:extLst>
          </p:cNvPr>
          <p:cNvSpPr txBox="1"/>
          <p:nvPr/>
        </p:nvSpPr>
        <p:spPr>
          <a:xfrm>
            <a:off x="8751666" y="4236993"/>
            <a:ext cx="2286000" cy="138499"/>
          </a:xfrm>
          <a:prstGeom prst="rect">
            <a:avLst/>
          </a:prstGeom>
          <a:solidFill>
            <a:srgbClr val="E6F7F7"/>
          </a:solidFill>
          <a:ln>
            <a:solidFill>
              <a:srgbClr val="E6F7F7"/>
            </a:solidFill>
          </a:ln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780" b="0" dirty="0">
                <a:solidFill>
                  <a:srgbClr val="051F4B"/>
                </a:solidFill>
                <a:latin typeface="Aptos"/>
              </a:rPr>
              <a:t>Combines findings into one recommendation</a:t>
            </a:r>
          </a:p>
        </p:txBody>
      </p:sp>
      <p:sp>
        <p:nvSpPr>
          <p:cNvPr id="277" name="Oval 276">
            <a:extLst>
              <a:ext uri="{FF2B5EF4-FFF2-40B4-BE49-F238E27FC236}">
                <a16:creationId xmlns:a16="http://schemas.microsoft.com/office/drawing/2014/main" id="{E4C573B2-71FB-2693-EB16-E9E51FCDBFA1}"/>
              </a:ext>
            </a:extLst>
          </p:cNvPr>
          <p:cNvSpPr/>
          <p:nvPr/>
        </p:nvSpPr>
        <p:spPr>
          <a:xfrm>
            <a:off x="7601554" y="4655737"/>
            <a:ext cx="256032" cy="256032"/>
          </a:xfrm>
          <a:prstGeom prst="ellipse">
            <a:avLst/>
          </a:prstGeom>
          <a:solidFill>
            <a:srgbClr val="E6F7F7"/>
          </a:solidFill>
          <a:ln>
            <a:solidFill>
              <a:srgbClr val="099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dirty="0">
                <a:solidFill>
                  <a:schemeClr val="tx1"/>
                </a:solidFill>
                <a:latin typeface="Aptos"/>
              </a:rPr>
              <a:t>5</a:t>
            </a:r>
          </a:p>
        </p:txBody>
      </p:sp>
      <p:sp>
        <p:nvSpPr>
          <p:cNvPr id="278" name="Rounded Rectangle 76">
            <a:extLst>
              <a:ext uri="{FF2B5EF4-FFF2-40B4-BE49-F238E27FC236}">
                <a16:creationId xmlns:a16="http://schemas.microsoft.com/office/drawing/2014/main" id="{7FE77013-1BB0-201E-9DB5-423B7707DB42}"/>
              </a:ext>
            </a:extLst>
          </p:cNvPr>
          <p:cNvSpPr/>
          <p:nvPr/>
        </p:nvSpPr>
        <p:spPr>
          <a:xfrm>
            <a:off x="8013033" y="4619161"/>
            <a:ext cx="3566160" cy="493776"/>
          </a:xfrm>
          <a:prstGeom prst="roundRect">
            <a:avLst/>
          </a:prstGeom>
          <a:solidFill>
            <a:srgbClr val="E6F7F7"/>
          </a:solidFill>
          <a:ln w="12700">
            <a:solidFill>
              <a:srgbClr val="099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9" name="TextBox 278">
            <a:extLst>
              <a:ext uri="{FF2B5EF4-FFF2-40B4-BE49-F238E27FC236}">
                <a16:creationId xmlns:a16="http://schemas.microsoft.com/office/drawing/2014/main" id="{A8F1EBA6-3903-7378-7D85-3BF7DD7E582D}"/>
              </a:ext>
            </a:extLst>
          </p:cNvPr>
          <p:cNvSpPr txBox="1"/>
          <p:nvPr/>
        </p:nvSpPr>
        <p:spPr>
          <a:xfrm>
            <a:off x="8214202" y="4756321"/>
            <a:ext cx="384048" cy="237744"/>
          </a:xfrm>
          <a:prstGeom prst="rect">
            <a:avLst/>
          </a:prstGeom>
          <a:solidFill>
            <a:srgbClr val="E6F7F7"/>
          </a:solidFill>
          <a:ln>
            <a:solidFill>
              <a:srgbClr val="099291"/>
            </a:solidFill>
          </a:ln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1400" b="1" dirty="0">
                <a:solidFill>
                  <a:schemeClr val="accent1"/>
                </a:solidFill>
                <a:latin typeface="Aptos"/>
              </a:rPr>
              <a:t>♙</a:t>
            </a:r>
          </a:p>
        </p:txBody>
      </p:sp>
      <p:sp>
        <p:nvSpPr>
          <p:cNvPr id="280" name="TextBox 279">
            <a:extLst>
              <a:ext uri="{FF2B5EF4-FFF2-40B4-BE49-F238E27FC236}">
                <a16:creationId xmlns:a16="http://schemas.microsoft.com/office/drawing/2014/main" id="{0985B659-F19C-576B-DBEB-E91076EFCD1B}"/>
              </a:ext>
            </a:extLst>
          </p:cNvPr>
          <p:cNvSpPr txBox="1"/>
          <p:nvPr/>
        </p:nvSpPr>
        <p:spPr>
          <a:xfrm>
            <a:off x="8854282" y="4692313"/>
            <a:ext cx="1417320" cy="164592"/>
          </a:xfrm>
          <a:prstGeom prst="rect">
            <a:avLst/>
          </a:prstGeom>
          <a:solidFill>
            <a:srgbClr val="E6F7F7"/>
          </a:solidFill>
          <a:ln>
            <a:solidFill>
              <a:srgbClr val="E6F7F7"/>
            </a:solidFill>
          </a:ln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1150" b="1">
                <a:solidFill>
                  <a:srgbClr val="051F4B"/>
                </a:solidFill>
                <a:latin typeface="Aptos"/>
              </a:rPr>
              <a:t>Human Review App</a:t>
            </a:r>
          </a:p>
        </p:txBody>
      </p:sp>
      <p:sp>
        <p:nvSpPr>
          <p:cNvPr id="281" name="TextBox 280">
            <a:extLst>
              <a:ext uri="{FF2B5EF4-FFF2-40B4-BE49-F238E27FC236}">
                <a16:creationId xmlns:a16="http://schemas.microsoft.com/office/drawing/2014/main" id="{EA000110-2B5E-96D4-2D0B-1238BD36C9AF}"/>
              </a:ext>
            </a:extLst>
          </p:cNvPr>
          <p:cNvSpPr txBox="1"/>
          <p:nvPr/>
        </p:nvSpPr>
        <p:spPr>
          <a:xfrm>
            <a:off x="8896618" y="4908214"/>
            <a:ext cx="1417320" cy="109728"/>
          </a:xfrm>
          <a:prstGeom prst="rect">
            <a:avLst/>
          </a:prstGeom>
          <a:solidFill>
            <a:srgbClr val="E6F7F7"/>
          </a:solidFill>
          <a:ln>
            <a:solidFill>
              <a:srgbClr val="E6F7F7"/>
            </a:solidFill>
          </a:ln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780" b="0" dirty="0">
                <a:solidFill>
                  <a:srgbClr val="051F4B"/>
                </a:solidFill>
                <a:latin typeface="Aptos"/>
              </a:rPr>
              <a:t>Exceptions only</a:t>
            </a:r>
          </a:p>
        </p:txBody>
      </p:sp>
      <p:sp>
        <p:nvSpPr>
          <p:cNvPr id="282" name="TextBox 281">
            <a:extLst>
              <a:ext uri="{FF2B5EF4-FFF2-40B4-BE49-F238E27FC236}">
                <a16:creationId xmlns:a16="http://schemas.microsoft.com/office/drawing/2014/main" id="{6D9B73BD-7E14-890C-9E99-561DBD457980}"/>
              </a:ext>
            </a:extLst>
          </p:cNvPr>
          <p:cNvSpPr txBox="1"/>
          <p:nvPr/>
        </p:nvSpPr>
        <p:spPr>
          <a:xfrm>
            <a:off x="9503167" y="5118527"/>
            <a:ext cx="176948" cy="203133"/>
          </a:xfrm>
          <a:prstGeom prst="rect">
            <a:avLst/>
          </a:prstGeom>
          <a:solidFill>
            <a:srgbClr val="E6F7F7"/>
          </a:solidFill>
          <a:ln>
            <a:solidFill>
              <a:srgbClr val="E6F7F7"/>
            </a:solidFill>
          </a:ln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1200" b="1">
                <a:solidFill>
                  <a:schemeClr val="accent1"/>
                </a:solidFill>
                <a:latin typeface="Aptos"/>
              </a:rPr>
              <a:t>↓</a:t>
            </a:r>
          </a:p>
        </p:txBody>
      </p:sp>
      <p:sp>
        <p:nvSpPr>
          <p:cNvPr id="283" name="Rounded Rectangle 81">
            <a:extLst>
              <a:ext uri="{FF2B5EF4-FFF2-40B4-BE49-F238E27FC236}">
                <a16:creationId xmlns:a16="http://schemas.microsoft.com/office/drawing/2014/main" id="{92770338-4AF1-B9DB-DD95-808EE529545E}"/>
              </a:ext>
            </a:extLst>
          </p:cNvPr>
          <p:cNvSpPr/>
          <p:nvPr/>
        </p:nvSpPr>
        <p:spPr>
          <a:xfrm>
            <a:off x="8212759" y="5259241"/>
            <a:ext cx="932688" cy="338328"/>
          </a:xfrm>
          <a:prstGeom prst="roundRect">
            <a:avLst/>
          </a:prstGeom>
          <a:solidFill>
            <a:srgbClr val="E6F7F7"/>
          </a:solidFill>
          <a:ln w="12700">
            <a:solidFill>
              <a:srgbClr val="099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4" name="TextBox 283">
            <a:extLst>
              <a:ext uri="{FF2B5EF4-FFF2-40B4-BE49-F238E27FC236}">
                <a16:creationId xmlns:a16="http://schemas.microsoft.com/office/drawing/2014/main" id="{0F73792C-9534-3335-10BE-74F6149A8C3C}"/>
              </a:ext>
            </a:extLst>
          </p:cNvPr>
          <p:cNvSpPr txBox="1"/>
          <p:nvPr/>
        </p:nvSpPr>
        <p:spPr>
          <a:xfrm>
            <a:off x="8303237" y="5332393"/>
            <a:ext cx="132841" cy="218521"/>
          </a:xfrm>
          <a:prstGeom prst="rect">
            <a:avLst/>
          </a:prstGeom>
          <a:solidFill>
            <a:srgbClr val="E6F7F7"/>
          </a:solidFill>
          <a:ln>
            <a:solidFill>
              <a:srgbClr val="E6F7F7"/>
            </a:solidFill>
          </a:ln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1300" b="1" dirty="0">
                <a:solidFill>
                  <a:srgbClr val="118243"/>
                </a:solidFill>
                <a:latin typeface="Aptos"/>
              </a:rPr>
              <a:t>✓</a:t>
            </a:r>
          </a:p>
        </p:txBody>
      </p:sp>
      <p:sp>
        <p:nvSpPr>
          <p:cNvPr id="285" name="TextBox 284">
            <a:extLst>
              <a:ext uri="{FF2B5EF4-FFF2-40B4-BE49-F238E27FC236}">
                <a16:creationId xmlns:a16="http://schemas.microsoft.com/office/drawing/2014/main" id="{BDB538A6-F27F-E5FA-7ECD-4D0F82F8E848}"/>
              </a:ext>
            </a:extLst>
          </p:cNvPr>
          <p:cNvSpPr txBox="1"/>
          <p:nvPr/>
        </p:nvSpPr>
        <p:spPr>
          <a:xfrm>
            <a:off x="8523174" y="5350680"/>
            <a:ext cx="499533" cy="144527"/>
          </a:xfrm>
          <a:prstGeom prst="rect">
            <a:avLst/>
          </a:prstGeom>
          <a:solidFill>
            <a:srgbClr val="E6F7F7"/>
          </a:solidFill>
          <a:ln>
            <a:solidFill>
              <a:srgbClr val="E6F7F7"/>
            </a:solidFill>
          </a:ln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19" b="1">
                <a:solidFill>
                  <a:srgbClr val="0C1424"/>
                </a:solidFill>
                <a:latin typeface="Aptos"/>
              </a:rPr>
              <a:t>Approve</a:t>
            </a:r>
          </a:p>
        </p:txBody>
      </p:sp>
      <p:sp>
        <p:nvSpPr>
          <p:cNvPr id="286" name="Rounded Rectangle 87">
            <a:extLst>
              <a:ext uri="{FF2B5EF4-FFF2-40B4-BE49-F238E27FC236}">
                <a16:creationId xmlns:a16="http://schemas.microsoft.com/office/drawing/2014/main" id="{F768D1F6-2915-8734-5A6B-610E5CBEDD8F}"/>
              </a:ext>
            </a:extLst>
          </p:cNvPr>
          <p:cNvSpPr/>
          <p:nvPr/>
        </p:nvSpPr>
        <p:spPr>
          <a:xfrm>
            <a:off x="9285014" y="5268866"/>
            <a:ext cx="932688" cy="338328"/>
          </a:xfrm>
          <a:prstGeom prst="roundRect">
            <a:avLst/>
          </a:prstGeom>
          <a:solidFill>
            <a:srgbClr val="E6F7F7"/>
          </a:solidFill>
          <a:ln w="12700">
            <a:solidFill>
              <a:srgbClr val="099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7" name="TextBox 286">
            <a:extLst>
              <a:ext uri="{FF2B5EF4-FFF2-40B4-BE49-F238E27FC236}">
                <a16:creationId xmlns:a16="http://schemas.microsoft.com/office/drawing/2014/main" id="{F31A0321-DD47-9DB6-DB70-B6EA023222C8}"/>
              </a:ext>
            </a:extLst>
          </p:cNvPr>
          <p:cNvSpPr txBox="1"/>
          <p:nvPr/>
        </p:nvSpPr>
        <p:spPr>
          <a:xfrm>
            <a:off x="9392879" y="5342018"/>
            <a:ext cx="166455" cy="218520"/>
          </a:xfrm>
          <a:prstGeom prst="rect">
            <a:avLst/>
          </a:prstGeom>
          <a:solidFill>
            <a:srgbClr val="E6F7F7"/>
          </a:solidFill>
          <a:ln>
            <a:solidFill>
              <a:srgbClr val="E6F7F7"/>
            </a:solidFill>
          </a:ln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1300" b="1" dirty="0">
                <a:solidFill>
                  <a:schemeClr val="accent1"/>
                </a:solidFill>
                <a:latin typeface="Aptos"/>
              </a:rPr>
              <a:t>×</a:t>
            </a:r>
          </a:p>
        </p:txBody>
      </p:sp>
      <p:sp>
        <p:nvSpPr>
          <p:cNvPr id="288" name="TextBox 287">
            <a:extLst>
              <a:ext uri="{FF2B5EF4-FFF2-40B4-BE49-F238E27FC236}">
                <a16:creationId xmlns:a16="http://schemas.microsoft.com/office/drawing/2014/main" id="{303E14B8-0C68-7B97-7963-7463F61DFDA0}"/>
              </a:ext>
            </a:extLst>
          </p:cNvPr>
          <p:cNvSpPr txBox="1"/>
          <p:nvPr/>
        </p:nvSpPr>
        <p:spPr>
          <a:xfrm>
            <a:off x="9605054" y="5360306"/>
            <a:ext cx="496989" cy="144526"/>
          </a:xfrm>
          <a:prstGeom prst="rect">
            <a:avLst/>
          </a:prstGeom>
          <a:solidFill>
            <a:srgbClr val="E6F7F7"/>
          </a:solidFill>
          <a:ln>
            <a:solidFill>
              <a:srgbClr val="E6F7F7"/>
            </a:solidFill>
          </a:ln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19" b="1">
                <a:solidFill>
                  <a:srgbClr val="0C1424"/>
                </a:solidFill>
                <a:latin typeface="Aptos"/>
              </a:rPr>
              <a:t>Reject</a:t>
            </a:r>
          </a:p>
        </p:txBody>
      </p:sp>
      <p:sp>
        <p:nvSpPr>
          <p:cNvPr id="289" name="Rounded Rectangle 90">
            <a:extLst>
              <a:ext uri="{FF2B5EF4-FFF2-40B4-BE49-F238E27FC236}">
                <a16:creationId xmlns:a16="http://schemas.microsoft.com/office/drawing/2014/main" id="{E0026680-9E6D-C9F3-08B8-5A9CB89C12E4}"/>
              </a:ext>
            </a:extLst>
          </p:cNvPr>
          <p:cNvSpPr/>
          <p:nvPr/>
        </p:nvSpPr>
        <p:spPr>
          <a:xfrm>
            <a:off x="10307215" y="5259241"/>
            <a:ext cx="932688" cy="338328"/>
          </a:xfrm>
          <a:prstGeom prst="roundRect">
            <a:avLst/>
          </a:prstGeom>
          <a:solidFill>
            <a:srgbClr val="E6F7F7"/>
          </a:solidFill>
          <a:ln w="12700">
            <a:solidFill>
              <a:srgbClr val="099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0" name="TextBox 289">
            <a:extLst>
              <a:ext uri="{FF2B5EF4-FFF2-40B4-BE49-F238E27FC236}">
                <a16:creationId xmlns:a16="http://schemas.microsoft.com/office/drawing/2014/main" id="{A5D2573A-6757-9DEF-A392-064948FD75C1}"/>
              </a:ext>
            </a:extLst>
          </p:cNvPr>
          <p:cNvSpPr txBox="1"/>
          <p:nvPr/>
        </p:nvSpPr>
        <p:spPr>
          <a:xfrm>
            <a:off x="10416942" y="5332393"/>
            <a:ext cx="155449" cy="218520"/>
          </a:xfrm>
          <a:prstGeom prst="rect">
            <a:avLst/>
          </a:prstGeom>
          <a:solidFill>
            <a:srgbClr val="E6F7F7"/>
          </a:solidFill>
          <a:ln>
            <a:solidFill>
              <a:srgbClr val="E6F7F7"/>
            </a:solidFill>
          </a:ln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1300" b="1" dirty="0">
                <a:solidFill>
                  <a:schemeClr val="accent1"/>
                </a:solidFill>
                <a:latin typeface="Aptos"/>
              </a:rPr>
              <a:t>↗</a:t>
            </a:r>
          </a:p>
        </p:txBody>
      </p:sp>
      <p:sp>
        <p:nvSpPr>
          <p:cNvPr id="291" name="TextBox 290">
            <a:extLst>
              <a:ext uri="{FF2B5EF4-FFF2-40B4-BE49-F238E27FC236}">
                <a16:creationId xmlns:a16="http://schemas.microsoft.com/office/drawing/2014/main" id="{89DF3254-D495-1522-CBAC-7D3FA779E2E2}"/>
              </a:ext>
            </a:extLst>
          </p:cNvPr>
          <p:cNvSpPr txBox="1"/>
          <p:nvPr/>
        </p:nvSpPr>
        <p:spPr>
          <a:xfrm>
            <a:off x="10627254" y="5350681"/>
            <a:ext cx="500889" cy="144526"/>
          </a:xfrm>
          <a:prstGeom prst="rect">
            <a:avLst/>
          </a:prstGeom>
          <a:solidFill>
            <a:srgbClr val="E6F7F7"/>
          </a:solidFill>
          <a:ln>
            <a:solidFill>
              <a:srgbClr val="E6F7F7"/>
            </a:solidFill>
          </a:ln>
        </p:spPr>
        <p:txBody>
          <a:bodyPr wrap="square" lIns="18288" tIns="9144" rIns="18288" bIns="9144">
            <a:spAutoFit/>
          </a:bodyPr>
          <a:lstStyle/>
          <a:p>
            <a:pPr algn="l"/>
            <a:r>
              <a:rPr sz="819" b="1">
                <a:solidFill>
                  <a:srgbClr val="0C1424"/>
                </a:solidFill>
                <a:latin typeface="Aptos"/>
              </a:rPr>
              <a:t>Escalate</a:t>
            </a:r>
          </a:p>
        </p:txBody>
      </p:sp>
      <p:sp>
        <p:nvSpPr>
          <p:cNvPr id="292" name="TextBox 291">
            <a:extLst>
              <a:ext uri="{FF2B5EF4-FFF2-40B4-BE49-F238E27FC236}">
                <a16:creationId xmlns:a16="http://schemas.microsoft.com/office/drawing/2014/main" id="{40739E4A-137D-A303-C782-9E0A237AA544}"/>
              </a:ext>
            </a:extLst>
          </p:cNvPr>
          <p:cNvSpPr txBox="1"/>
          <p:nvPr/>
        </p:nvSpPr>
        <p:spPr>
          <a:xfrm>
            <a:off x="9602277" y="2912551"/>
            <a:ext cx="45719" cy="203133"/>
          </a:xfrm>
          <a:prstGeom prst="rect">
            <a:avLst/>
          </a:prstGeom>
          <a:solidFill>
            <a:srgbClr val="E6F7F7"/>
          </a:solidFill>
          <a:ln>
            <a:solidFill>
              <a:srgbClr val="E6F7F7"/>
            </a:solidFill>
          </a:ln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1200" b="1" dirty="0">
                <a:solidFill>
                  <a:schemeClr val="accent1"/>
                </a:solidFill>
                <a:latin typeface="Aptos"/>
              </a:rPr>
              <a:t>↓</a:t>
            </a:r>
          </a:p>
        </p:txBody>
      </p:sp>
      <p:sp>
        <p:nvSpPr>
          <p:cNvPr id="293" name="TextBox 292">
            <a:extLst>
              <a:ext uri="{FF2B5EF4-FFF2-40B4-BE49-F238E27FC236}">
                <a16:creationId xmlns:a16="http://schemas.microsoft.com/office/drawing/2014/main" id="{E20A392E-6092-BAE6-D9AA-3910FF6E395A}"/>
              </a:ext>
            </a:extLst>
          </p:cNvPr>
          <p:cNvSpPr txBox="1"/>
          <p:nvPr/>
        </p:nvSpPr>
        <p:spPr>
          <a:xfrm>
            <a:off x="9573809" y="2131231"/>
            <a:ext cx="146982" cy="203133"/>
          </a:xfrm>
          <a:prstGeom prst="rect">
            <a:avLst/>
          </a:prstGeom>
          <a:solidFill>
            <a:srgbClr val="E6F7F7"/>
          </a:solidFill>
          <a:ln>
            <a:solidFill>
              <a:srgbClr val="E6F7F7"/>
            </a:solidFill>
          </a:ln>
        </p:spPr>
        <p:txBody>
          <a:bodyPr wrap="square" lIns="18288" tIns="9144" rIns="18288" bIns="9144">
            <a:spAutoFit/>
          </a:bodyPr>
          <a:lstStyle/>
          <a:p>
            <a:pPr algn="ctr"/>
            <a:r>
              <a:rPr sz="1200" b="1" dirty="0">
                <a:solidFill>
                  <a:schemeClr val="accent1"/>
                </a:solidFill>
                <a:latin typeface="Aptos"/>
              </a:rPr>
              <a:t>↓</a:t>
            </a:r>
          </a:p>
        </p:txBody>
      </p:sp>
      <p:sp>
        <p:nvSpPr>
          <p:cNvPr id="294" name="Rounded Rectangle 7">
            <a:extLst>
              <a:ext uri="{FF2B5EF4-FFF2-40B4-BE49-F238E27FC236}">
                <a16:creationId xmlns:a16="http://schemas.microsoft.com/office/drawing/2014/main" id="{A6BED1C1-DA31-2406-C7A7-83189EFBD21C}"/>
              </a:ext>
            </a:extLst>
          </p:cNvPr>
          <p:cNvSpPr/>
          <p:nvPr/>
        </p:nvSpPr>
        <p:spPr>
          <a:xfrm>
            <a:off x="312202" y="1250442"/>
            <a:ext cx="6119079" cy="458659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29D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5" name="TextBox 294">
            <a:extLst>
              <a:ext uri="{FF2B5EF4-FFF2-40B4-BE49-F238E27FC236}">
                <a16:creationId xmlns:a16="http://schemas.microsoft.com/office/drawing/2014/main" id="{7B386FBD-E131-A550-55B6-D8E70B873EA2}"/>
              </a:ext>
            </a:extLst>
          </p:cNvPr>
          <p:cNvSpPr txBox="1"/>
          <p:nvPr/>
        </p:nvSpPr>
        <p:spPr>
          <a:xfrm>
            <a:off x="640080" y="1481328"/>
            <a:ext cx="4389120" cy="274320"/>
          </a:xfrm>
          <a:prstGeom prst="rect">
            <a:avLst/>
          </a:prstGeom>
          <a:noFill/>
        </p:spPr>
        <p:txBody>
          <a:bodyPr wrap="none" lIns="27432" tIns="18288" rIns="27432" bIns="18288">
            <a:spAutoFit/>
          </a:bodyPr>
          <a:lstStyle/>
          <a:p>
            <a:pPr>
              <a:lnSpc>
                <a:spcPct val="100000"/>
              </a:lnSpc>
              <a:defRPr sz="1600" b="1">
                <a:solidFill>
                  <a:srgbClr val="031D39"/>
                </a:solidFill>
                <a:latin typeface="Aptos"/>
              </a:defRPr>
            </a:pPr>
            <a:r>
              <a:rPr dirty="0"/>
              <a:t>1  ServiceNow Ticket Created</a:t>
            </a:r>
          </a:p>
        </p:txBody>
      </p:sp>
      <p:sp>
        <p:nvSpPr>
          <p:cNvPr id="296" name="TextBox 295">
            <a:extLst>
              <a:ext uri="{FF2B5EF4-FFF2-40B4-BE49-F238E27FC236}">
                <a16:creationId xmlns:a16="http://schemas.microsoft.com/office/drawing/2014/main" id="{1A380789-1C44-96B9-22C6-EA001447E2CD}"/>
              </a:ext>
            </a:extLst>
          </p:cNvPr>
          <p:cNvSpPr txBox="1"/>
          <p:nvPr/>
        </p:nvSpPr>
        <p:spPr>
          <a:xfrm>
            <a:off x="658368" y="1773936"/>
            <a:ext cx="4434840" cy="219456"/>
          </a:xfrm>
          <a:prstGeom prst="rect">
            <a:avLst/>
          </a:prstGeom>
          <a:noFill/>
        </p:spPr>
        <p:txBody>
          <a:bodyPr wrap="none" lIns="27432" tIns="18288" rIns="27432" bIns="18288">
            <a:spAutoFit/>
          </a:bodyPr>
          <a:lstStyle/>
          <a:p>
            <a:pPr>
              <a:lnSpc>
                <a:spcPct val="100000"/>
              </a:lnSpc>
              <a:defRPr sz="1050" b="0">
                <a:solidFill>
                  <a:srgbClr val="64748B"/>
                </a:solidFill>
                <a:latin typeface="Aptos"/>
              </a:defRPr>
            </a:pPr>
            <a:r>
              <a:rPr dirty="0"/>
              <a:t>Vendor, amount, justification, urgency and attachment are captured.</a:t>
            </a:r>
          </a:p>
        </p:txBody>
      </p:sp>
      <p:sp>
        <p:nvSpPr>
          <p:cNvPr id="297" name="TextBox 296">
            <a:extLst>
              <a:ext uri="{FF2B5EF4-FFF2-40B4-BE49-F238E27FC236}">
                <a16:creationId xmlns:a16="http://schemas.microsoft.com/office/drawing/2014/main" id="{4F4309F7-AB40-97DE-B28B-B0C2DD504DA0}"/>
              </a:ext>
            </a:extLst>
          </p:cNvPr>
          <p:cNvSpPr txBox="1"/>
          <p:nvPr/>
        </p:nvSpPr>
        <p:spPr>
          <a:xfrm>
            <a:off x="756341" y="5115408"/>
            <a:ext cx="2011680" cy="201168"/>
          </a:xfrm>
          <a:prstGeom prst="rect">
            <a:avLst/>
          </a:prstGeom>
          <a:noFill/>
        </p:spPr>
        <p:txBody>
          <a:bodyPr wrap="none" lIns="27432" tIns="18288" rIns="27432" bIns="18288">
            <a:spAutoFit/>
          </a:bodyPr>
          <a:lstStyle/>
          <a:p>
            <a:pPr>
              <a:lnSpc>
                <a:spcPct val="100000"/>
              </a:lnSpc>
              <a:defRPr sz="1150" b="1">
                <a:solidFill>
                  <a:srgbClr val="031D39"/>
                </a:solidFill>
                <a:latin typeface="Aptos"/>
              </a:defRPr>
            </a:pPr>
            <a:r>
              <a:t>Demo inputs captured</a:t>
            </a:r>
          </a:p>
        </p:txBody>
      </p:sp>
      <p:sp>
        <p:nvSpPr>
          <p:cNvPr id="298" name="Rounded Rectangle 13">
            <a:extLst>
              <a:ext uri="{FF2B5EF4-FFF2-40B4-BE49-F238E27FC236}">
                <a16:creationId xmlns:a16="http://schemas.microsoft.com/office/drawing/2014/main" id="{7B377C9B-ECC6-741E-4F16-2824DD895600}"/>
              </a:ext>
            </a:extLst>
          </p:cNvPr>
          <p:cNvSpPr/>
          <p:nvPr/>
        </p:nvSpPr>
        <p:spPr>
          <a:xfrm>
            <a:off x="827751" y="5367960"/>
            <a:ext cx="100584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31D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9" name="TextBox 298">
            <a:extLst>
              <a:ext uri="{FF2B5EF4-FFF2-40B4-BE49-F238E27FC236}">
                <a16:creationId xmlns:a16="http://schemas.microsoft.com/office/drawing/2014/main" id="{30ACDE17-2EC7-58C4-14BC-A6AF0FAEB6DA}"/>
              </a:ext>
            </a:extLst>
          </p:cNvPr>
          <p:cNvSpPr txBox="1"/>
          <p:nvPr/>
        </p:nvSpPr>
        <p:spPr>
          <a:xfrm>
            <a:off x="802061" y="5444591"/>
            <a:ext cx="914400" cy="182880"/>
          </a:xfrm>
          <a:prstGeom prst="rect">
            <a:avLst/>
          </a:prstGeom>
          <a:noFill/>
        </p:spPr>
        <p:txBody>
          <a:bodyPr wrap="none" lIns="27432" tIns="18288" rIns="27432" bIns="18288">
            <a:spAutoFit/>
          </a:bodyPr>
          <a:lstStyle/>
          <a:p>
            <a:pPr algn="ctr">
              <a:lnSpc>
                <a:spcPct val="100000"/>
              </a:lnSpc>
              <a:defRPr sz="950" b="1">
                <a:solidFill>
                  <a:srgbClr val="031D39"/>
                </a:solidFill>
                <a:latin typeface="Aptos"/>
              </a:defRPr>
            </a:pPr>
            <a:r>
              <a:rPr dirty="0"/>
              <a:t>INC0010035</a:t>
            </a:r>
          </a:p>
        </p:txBody>
      </p:sp>
      <p:sp>
        <p:nvSpPr>
          <p:cNvPr id="300" name="Rounded Rectangle 15">
            <a:extLst>
              <a:ext uri="{FF2B5EF4-FFF2-40B4-BE49-F238E27FC236}">
                <a16:creationId xmlns:a16="http://schemas.microsoft.com/office/drawing/2014/main" id="{19DC4097-B34D-D02E-1C57-280ADB307D3B}"/>
              </a:ext>
            </a:extLst>
          </p:cNvPr>
          <p:cNvSpPr/>
          <p:nvPr/>
        </p:nvSpPr>
        <p:spPr>
          <a:xfrm>
            <a:off x="1853621" y="5389728"/>
            <a:ext cx="150876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85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1" name="TextBox 300">
            <a:extLst>
              <a:ext uri="{FF2B5EF4-FFF2-40B4-BE49-F238E27FC236}">
                <a16:creationId xmlns:a16="http://schemas.microsoft.com/office/drawing/2014/main" id="{93867730-D777-3953-C83A-8DE5EDCECC46}"/>
              </a:ext>
            </a:extLst>
          </p:cNvPr>
          <p:cNvSpPr txBox="1"/>
          <p:nvPr/>
        </p:nvSpPr>
        <p:spPr>
          <a:xfrm>
            <a:off x="1899341" y="5422824"/>
            <a:ext cx="1417319" cy="182880"/>
          </a:xfrm>
          <a:prstGeom prst="rect">
            <a:avLst/>
          </a:prstGeom>
          <a:noFill/>
        </p:spPr>
        <p:txBody>
          <a:bodyPr wrap="none" lIns="27432" tIns="18288" rIns="27432" bIns="18288">
            <a:spAutoFit/>
          </a:bodyPr>
          <a:lstStyle/>
          <a:p>
            <a:pPr algn="ctr">
              <a:lnSpc>
                <a:spcPct val="100000"/>
              </a:lnSpc>
              <a:defRPr sz="950" b="1">
                <a:solidFill>
                  <a:srgbClr val="00858F"/>
                </a:solidFill>
                <a:latin typeface="Aptos"/>
              </a:defRPr>
            </a:pPr>
            <a:r>
              <a:rPr dirty="0"/>
              <a:t>Vendor + Country</a:t>
            </a:r>
          </a:p>
        </p:txBody>
      </p:sp>
      <p:sp>
        <p:nvSpPr>
          <p:cNvPr id="302" name="Rounded Rectangle 17">
            <a:extLst>
              <a:ext uri="{FF2B5EF4-FFF2-40B4-BE49-F238E27FC236}">
                <a16:creationId xmlns:a16="http://schemas.microsoft.com/office/drawing/2014/main" id="{41E50477-F138-55FB-2632-9DBE31C6484F}"/>
              </a:ext>
            </a:extLst>
          </p:cNvPr>
          <p:cNvSpPr/>
          <p:nvPr/>
        </p:nvSpPr>
        <p:spPr>
          <a:xfrm>
            <a:off x="3453821" y="5389728"/>
            <a:ext cx="86868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62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3" name="TextBox 302">
            <a:extLst>
              <a:ext uri="{FF2B5EF4-FFF2-40B4-BE49-F238E27FC236}">
                <a16:creationId xmlns:a16="http://schemas.microsoft.com/office/drawing/2014/main" id="{D72441E5-2075-CEBA-BDB5-4F4DA65B9CF3}"/>
              </a:ext>
            </a:extLst>
          </p:cNvPr>
          <p:cNvSpPr txBox="1"/>
          <p:nvPr/>
        </p:nvSpPr>
        <p:spPr>
          <a:xfrm>
            <a:off x="3499541" y="5422824"/>
            <a:ext cx="777240" cy="182880"/>
          </a:xfrm>
          <a:prstGeom prst="rect">
            <a:avLst/>
          </a:prstGeom>
          <a:noFill/>
        </p:spPr>
        <p:txBody>
          <a:bodyPr wrap="none" lIns="27432" tIns="18288" rIns="27432" bIns="18288">
            <a:spAutoFit/>
          </a:bodyPr>
          <a:lstStyle/>
          <a:p>
            <a:pPr algn="ctr">
              <a:lnSpc>
                <a:spcPct val="100000"/>
              </a:lnSpc>
              <a:defRPr sz="950" b="1">
                <a:solidFill>
                  <a:srgbClr val="F4621A"/>
                </a:solidFill>
                <a:latin typeface="Aptos"/>
              </a:defRPr>
            </a:pPr>
            <a:r>
              <a:rPr dirty="0"/>
              <a:t>₹35,000</a:t>
            </a:r>
          </a:p>
        </p:txBody>
      </p:sp>
      <p:sp>
        <p:nvSpPr>
          <p:cNvPr id="304" name="Rounded Rectangle 19">
            <a:extLst>
              <a:ext uri="{FF2B5EF4-FFF2-40B4-BE49-F238E27FC236}">
                <a16:creationId xmlns:a16="http://schemas.microsoft.com/office/drawing/2014/main" id="{58DBC8ED-804F-6147-9C59-F6EC5894ABCF}"/>
              </a:ext>
            </a:extLst>
          </p:cNvPr>
          <p:cNvSpPr/>
          <p:nvPr/>
        </p:nvSpPr>
        <p:spPr>
          <a:xfrm>
            <a:off x="4439630" y="5377971"/>
            <a:ext cx="105156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F4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5" name="TextBox 304">
            <a:extLst>
              <a:ext uri="{FF2B5EF4-FFF2-40B4-BE49-F238E27FC236}">
                <a16:creationId xmlns:a16="http://schemas.microsoft.com/office/drawing/2014/main" id="{8097E347-96F3-FD8D-32ED-399D9A1E1BD3}"/>
              </a:ext>
            </a:extLst>
          </p:cNvPr>
          <p:cNvSpPr txBox="1"/>
          <p:nvPr/>
        </p:nvSpPr>
        <p:spPr>
          <a:xfrm>
            <a:off x="4459661" y="5444591"/>
            <a:ext cx="960119" cy="182880"/>
          </a:xfrm>
          <a:prstGeom prst="rect">
            <a:avLst/>
          </a:prstGeom>
          <a:noFill/>
        </p:spPr>
        <p:txBody>
          <a:bodyPr wrap="none" lIns="27432" tIns="18288" rIns="27432" bIns="18288">
            <a:spAutoFit/>
          </a:bodyPr>
          <a:lstStyle/>
          <a:p>
            <a:pPr algn="ctr">
              <a:lnSpc>
                <a:spcPct val="100000"/>
              </a:lnSpc>
              <a:defRPr sz="950" b="1">
                <a:solidFill>
                  <a:srgbClr val="6F4AC8"/>
                </a:solidFill>
                <a:latin typeface="Aptos"/>
              </a:defRPr>
            </a:pPr>
            <a:r>
              <a:rPr dirty="0"/>
              <a:t>Attachment</a:t>
            </a:r>
          </a:p>
        </p:txBody>
      </p:sp>
      <p:sp>
        <p:nvSpPr>
          <p:cNvPr id="306" name="Right Arrow 21">
            <a:extLst>
              <a:ext uri="{FF2B5EF4-FFF2-40B4-BE49-F238E27FC236}">
                <a16:creationId xmlns:a16="http://schemas.microsoft.com/office/drawing/2014/main" id="{BE133E0F-76FF-EDB9-5A2B-75ED920716B4}"/>
              </a:ext>
            </a:extLst>
          </p:cNvPr>
          <p:cNvSpPr/>
          <p:nvPr/>
        </p:nvSpPr>
        <p:spPr>
          <a:xfrm>
            <a:off x="6534993" y="2800758"/>
            <a:ext cx="365760" cy="347472"/>
          </a:xfrm>
          <a:prstGeom prst="rightArrow">
            <a:avLst/>
          </a:prstGeom>
          <a:solidFill>
            <a:schemeClr val="accent1"/>
          </a:solidFill>
          <a:ln>
            <a:solidFill>
              <a:srgbClr val="F462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7" name="Picture 306">
            <a:extLst>
              <a:ext uri="{FF2B5EF4-FFF2-40B4-BE49-F238E27FC236}">
                <a16:creationId xmlns:a16="http://schemas.microsoft.com/office/drawing/2014/main" id="{774F0286-6A0D-0C1F-1F9B-DF6E31B7C4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642" y="2011680"/>
            <a:ext cx="5896142" cy="285292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>
          <a:extLst>
            <a:ext uri="{FF2B5EF4-FFF2-40B4-BE49-F238E27FC236}">
              <a16:creationId xmlns:a16="http://schemas.microsoft.com/office/drawing/2014/main" id="{A7604FCB-6426-1759-6621-BAA29000A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6">
            <a:extLst>
              <a:ext uri="{FF2B5EF4-FFF2-40B4-BE49-F238E27FC236}">
                <a16:creationId xmlns:a16="http://schemas.microsoft.com/office/drawing/2014/main" id="{D09ABD3C-EB47-747F-D829-2B1205B7FF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221" name="Google Shape;221;p6">
            <a:extLst>
              <a:ext uri="{FF2B5EF4-FFF2-40B4-BE49-F238E27FC236}">
                <a16:creationId xmlns:a16="http://schemas.microsoft.com/office/drawing/2014/main" id="{15539A78-DCF6-BC0F-4B0B-EAB708423BC6}"/>
              </a:ext>
            </a:extLst>
          </p:cNvPr>
          <p:cNvSpPr/>
          <p:nvPr/>
        </p:nvSpPr>
        <p:spPr>
          <a:xfrm>
            <a:off x="359999" y="859929"/>
            <a:ext cx="10398312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6">
            <a:extLst>
              <a:ext uri="{FF2B5EF4-FFF2-40B4-BE49-F238E27FC236}">
                <a16:creationId xmlns:a16="http://schemas.microsoft.com/office/drawing/2014/main" id="{B2A80777-0967-57FB-3443-9676AC721192}"/>
              </a:ext>
            </a:extLst>
          </p:cNvPr>
          <p:cNvSpPr txBox="1"/>
          <p:nvPr/>
        </p:nvSpPr>
        <p:spPr>
          <a:xfrm>
            <a:off x="359999" y="283094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3200" b="1" u="sng" dirty="0">
                <a:solidFill>
                  <a:srgbClr val="0A2149"/>
                </a:solidFill>
              </a:rPr>
              <a:t>Decision Intelligence &amp; Agent Output Data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7F5DFE-046B-73FF-EA4F-88DDC5DBFD00}"/>
              </a:ext>
            </a:extLst>
          </p:cNvPr>
          <p:cNvSpPr/>
          <p:nvPr/>
        </p:nvSpPr>
        <p:spPr>
          <a:xfrm>
            <a:off x="81325" y="1001162"/>
            <a:ext cx="7808359" cy="5050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dirty="0">
                <a:solidFill>
                  <a:schemeClr val="tx1"/>
                </a:solidFill>
              </a:rPr>
              <a:t>What </a:t>
            </a:r>
            <a:r>
              <a:rPr lang="en-US" sz="1600" dirty="0" err="1">
                <a:solidFill>
                  <a:schemeClr val="tx1"/>
                </a:solidFill>
              </a:rPr>
              <a:t>VerdictOS</a:t>
            </a:r>
            <a:r>
              <a:rPr lang="en-US" sz="1600" dirty="0">
                <a:solidFill>
                  <a:schemeClr val="tx1"/>
                </a:solidFill>
              </a:rPr>
              <a:t> reads, enriches, evaluates, and sends for human review</a:t>
            </a:r>
          </a:p>
          <a:p>
            <a:pPr algn="ctr"/>
            <a:endParaRPr sz="1600" dirty="0">
              <a:solidFill>
                <a:schemeClr val="tx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03ED99C-3623-B3E3-A1FF-766DD6FE8D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276" y="1385610"/>
            <a:ext cx="11826747" cy="528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8346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>
          <a:extLst>
            <a:ext uri="{FF2B5EF4-FFF2-40B4-BE49-F238E27FC236}">
              <a16:creationId xmlns:a16="http://schemas.microsoft.com/office/drawing/2014/main" id="{E2903273-9B4A-B150-843B-E8B14D3DE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6">
            <a:extLst>
              <a:ext uri="{FF2B5EF4-FFF2-40B4-BE49-F238E27FC236}">
                <a16:creationId xmlns:a16="http://schemas.microsoft.com/office/drawing/2014/main" id="{048569AC-CBA4-D4D9-EB1C-172450ED153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221" name="Google Shape;221;p6">
            <a:extLst>
              <a:ext uri="{FF2B5EF4-FFF2-40B4-BE49-F238E27FC236}">
                <a16:creationId xmlns:a16="http://schemas.microsoft.com/office/drawing/2014/main" id="{1C44AC0A-A3C0-2E8F-0B2F-5CBEAE050464}"/>
              </a:ext>
            </a:extLst>
          </p:cNvPr>
          <p:cNvSpPr/>
          <p:nvPr/>
        </p:nvSpPr>
        <p:spPr>
          <a:xfrm>
            <a:off x="359999" y="859929"/>
            <a:ext cx="10398312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6">
            <a:extLst>
              <a:ext uri="{FF2B5EF4-FFF2-40B4-BE49-F238E27FC236}">
                <a16:creationId xmlns:a16="http://schemas.microsoft.com/office/drawing/2014/main" id="{C7D5FFC2-6EE7-4043-BDC5-D09F3309519F}"/>
              </a:ext>
            </a:extLst>
          </p:cNvPr>
          <p:cNvSpPr txBox="1"/>
          <p:nvPr/>
        </p:nvSpPr>
        <p:spPr>
          <a:xfrm>
            <a:off x="359999" y="283094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3200" b="1" u="sng" dirty="0">
                <a:solidFill>
                  <a:srgbClr val="0A2149"/>
                </a:solidFill>
              </a:rPr>
              <a:t>Decision Intelligence &amp; Agent Output Data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6EB4E1E-E4A0-25D5-CAE4-EE016F2426AD}"/>
              </a:ext>
            </a:extLst>
          </p:cNvPr>
          <p:cNvSpPr/>
          <p:nvPr/>
        </p:nvSpPr>
        <p:spPr>
          <a:xfrm>
            <a:off x="81325" y="1001162"/>
            <a:ext cx="7808359" cy="5050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dirty="0">
                <a:solidFill>
                  <a:schemeClr val="tx1"/>
                </a:solidFill>
              </a:rPr>
              <a:t>What </a:t>
            </a:r>
            <a:r>
              <a:rPr lang="en-US" sz="1600" dirty="0" err="1">
                <a:solidFill>
                  <a:schemeClr val="tx1"/>
                </a:solidFill>
              </a:rPr>
              <a:t>VerdictOS</a:t>
            </a:r>
            <a:r>
              <a:rPr lang="en-US" sz="1600" dirty="0">
                <a:solidFill>
                  <a:schemeClr val="tx1"/>
                </a:solidFill>
              </a:rPr>
              <a:t> reads, enriches, evaluates, and sends for human review</a:t>
            </a:r>
          </a:p>
          <a:p>
            <a:pPr algn="ctr"/>
            <a:endParaRPr sz="1600" dirty="0">
              <a:solidFill>
                <a:schemeClr val="tx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ED072DC-FB5E-747C-CB19-CA812603D7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25" y="1307725"/>
            <a:ext cx="12016650" cy="5326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0630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>
          <a:extLst>
            <a:ext uri="{FF2B5EF4-FFF2-40B4-BE49-F238E27FC236}">
              <a16:creationId xmlns:a16="http://schemas.microsoft.com/office/drawing/2014/main" id="{63BB4D8E-FAEE-A8CF-2B0B-66B072F05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6">
            <a:extLst>
              <a:ext uri="{FF2B5EF4-FFF2-40B4-BE49-F238E27FC236}">
                <a16:creationId xmlns:a16="http://schemas.microsoft.com/office/drawing/2014/main" id="{DDFB2336-85B6-2507-5C73-A58CB8F20BA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574470" y="6480000"/>
            <a:ext cx="157094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221" name="Google Shape;221;p6">
            <a:extLst>
              <a:ext uri="{FF2B5EF4-FFF2-40B4-BE49-F238E27FC236}">
                <a16:creationId xmlns:a16="http://schemas.microsoft.com/office/drawing/2014/main" id="{92633BFF-7254-6F7A-CB3F-3E69EF82ED37}"/>
              </a:ext>
            </a:extLst>
          </p:cNvPr>
          <p:cNvSpPr/>
          <p:nvPr/>
        </p:nvSpPr>
        <p:spPr>
          <a:xfrm>
            <a:off x="359999" y="859929"/>
            <a:ext cx="10398312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6">
            <a:extLst>
              <a:ext uri="{FF2B5EF4-FFF2-40B4-BE49-F238E27FC236}">
                <a16:creationId xmlns:a16="http://schemas.microsoft.com/office/drawing/2014/main" id="{18D1835B-8AE3-F3AD-2296-3FC198CB7ADD}"/>
              </a:ext>
            </a:extLst>
          </p:cNvPr>
          <p:cNvSpPr txBox="1"/>
          <p:nvPr/>
        </p:nvSpPr>
        <p:spPr>
          <a:xfrm>
            <a:off x="359999" y="283094"/>
            <a:ext cx="9000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3200" b="1" u="sng" dirty="0">
                <a:solidFill>
                  <a:srgbClr val="0A2149"/>
                </a:solidFill>
                <a:latin typeface="Aptos"/>
              </a:rPr>
              <a:t>Human Review, Explainability &amp; ServiceNow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87D6A3-7865-516C-4724-9EB06F56806A}"/>
              </a:ext>
            </a:extLst>
          </p:cNvPr>
          <p:cNvSpPr/>
          <p:nvPr/>
        </p:nvSpPr>
        <p:spPr>
          <a:xfrm>
            <a:off x="399285" y="922456"/>
            <a:ext cx="7808359" cy="5050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olidFill>
                  <a:srgbClr val="5C6980"/>
                </a:solidFill>
                <a:latin typeface="Aptos"/>
              </a:rPr>
              <a:t>Final governance control: AI recommendation, human decision, and audit-ready evidence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20687B-D717-334D-D393-474E161586F7}"/>
              </a:ext>
            </a:extLst>
          </p:cNvPr>
          <p:cNvSpPr txBox="1"/>
          <p:nvPr/>
        </p:nvSpPr>
        <p:spPr>
          <a:xfrm>
            <a:off x="399285" y="1600201"/>
            <a:ext cx="28346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A2149"/>
                </a:solidFill>
                <a:latin typeface="Aptos"/>
              </a:rPr>
              <a:t>Human Review App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B164DA-124F-4709-736D-03B2E938ADBB}"/>
              </a:ext>
            </a:extLst>
          </p:cNvPr>
          <p:cNvSpPr txBox="1"/>
          <p:nvPr/>
        </p:nvSpPr>
        <p:spPr>
          <a:xfrm>
            <a:off x="399285" y="1901953"/>
            <a:ext cx="30175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5C6980"/>
                </a:solidFill>
                <a:latin typeface="Aptos"/>
              </a:rPr>
              <a:t>Reviewer receives one final recommendation with evidence.</a:t>
            </a:r>
          </a:p>
        </p:txBody>
      </p:sp>
      <p:sp>
        <p:nvSpPr>
          <p:cNvPr id="5" name="Rounded Rectangle 26">
            <a:extLst>
              <a:ext uri="{FF2B5EF4-FFF2-40B4-BE49-F238E27FC236}">
                <a16:creationId xmlns:a16="http://schemas.microsoft.com/office/drawing/2014/main" id="{2227905D-E1AB-565A-8730-58668CE0AF4D}"/>
              </a:ext>
            </a:extLst>
          </p:cNvPr>
          <p:cNvSpPr/>
          <p:nvPr/>
        </p:nvSpPr>
        <p:spPr>
          <a:xfrm>
            <a:off x="454149" y="4663441"/>
            <a:ext cx="713232" cy="4114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AA0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 b="1">
                <a:solidFill>
                  <a:schemeClr val="accent1"/>
                </a:solidFill>
                <a:latin typeface="Aptos"/>
              </a:rPr>
              <a:t>Approve</a:t>
            </a:r>
          </a:p>
        </p:txBody>
      </p:sp>
      <p:sp>
        <p:nvSpPr>
          <p:cNvPr id="6" name="Rounded Rectangle 27">
            <a:extLst>
              <a:ext uri="{FF2B5EF4-FFF2-40B4-BE49-F238E27FC236}">
                <a16:creationId xmlns:a16="http://schemas.microsoft.com/office/drawing/2014/main" id="{8F1A3C67-4655-7A59-42FB-AF9C8EA252AE}"/>
              </a:ext>
            </a:extLst>
          </p:cNvPr>
          <p:cNvSpPr/>
          <p:nvPr/>
        </p:nvSpPr>
        <p:spPr>
          <a:xfrm>
            <a:off x="1295397" y="4663441"/>
            <a:ext cx="713232" cy="4114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D6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 b="1">
                <a:solidFill>
                  <a:schemeClr val="accent1"/>
                </a:solidFill>
                <a:latin typeface="Aptos"/>
              </a:rPr>
              <a:t>Review</a:t>
            </a:r>
          </a:p>
        </p:txBody>
      </p:sp>
      <p:sp>
        <p:nvSpPr>
          <p:cNvPr id="7" name="Rounded Rectangle 28">
            <a:extLst>
              <a:ext uri="{FF2B5EF4-FFF2-40B4-BE49-F238E27FC236}">
                <a16:creationId xmlns:a16="http://schemas.microsoft.com/office/drawing/2014/main" id="{6ED0C65E-87F2-154F-A3FE-4DB7BA2369A1}"/>
              </a:ext>
            </a:extLst>
          </p:cNvPr>
          <p:cNvSpPr/>
          <p:nvPr/>
        </p:nvSpPr>
        <p:spPr>
          <a:xfrm>
            <a:off x="2136645" y="4663441"/>
            <a:ext cx="713232" cy="4114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C3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 b="1">
                <a:solidFill>
                  <a:schemeClr val="accent1"/>
                </a:solidFill>
                <a:latin typeface="Aptos"/>
              </a:rPr>
              <a:t>Reject</a:t>
            </a:r>
          </a:p>
        </p:txBody>
      </p:sp>
      <p:sp>
        <p:nvSpPr>
          <p:cNvPr id="9" name="Rounded Rectangle 29">
            <a:extLst>
              <a:ext uri="{FF2B5EF4-FFF2-40B4-BE49-F238E27FC236}">
                <a16:creationId xmlns:a16="http://schemas.microsoft.com/office/drawing/2014/main" id="{F997960E-4FC2-8D26-2B74-D1A41CF08DAD}"/>
              </a:ext>
            </a:extLst>
          </p:cNvPr>
          <p:cNvSpPr/>
          <p:nvPr/>
        </p:nvSpPr>
        <p:spPr>
          <a:xfrm>
            <a:off x="2977893" y="4663441"/>
            <a:ext cx="713232" cy="4114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F65A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 b="1">
                <a:solidFill>
                  <a:schemeClr val="accent1"/>
                </a:solidFill>
                <a:latin typeface="Aptos"/>
              </a:rPr>
              <a:t>Escalate</a:t>
            </a:r>
          </a:p>
        </p:txBody>
      </p:sp>
      <p:sp>
        <p:nvSpPr>
          <p:cNvPr id="10" name="Rounded Rectangle 31">
            <a:extLst>
              <a:ext uri="{FF2B5EF4-FFF2-40B4-BE49-F238E27FC236}">
                <a16:creationId xmlns:a16="http://schemas.microsoft.com/office/drawing/2014/main" id="{319121CA-C6CE-29A1-E820-F87707C12F80}"/>
              </a:ext>
            </a:extLst>
          </p:cNvPr>
          <p:cNvSpPr/>
          <p:nvPr/>
        </p:nvSpPr>
        <p:spPr>
          <a:xfrm>
            <a:off x="4253481" y="1504189"/>
            <a:ext cx="3520440" cy="4343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E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4A9FDD3-57E9-19ED-F85F-57B84F0FD00D}"/>
              </a:ext>
            </a:extLst>
          </p:cNvPr>
          <p:cNvSpPr txBox="1"/>
          <p:nvPr/>
        </p:nvSpPr>
        <p:spPr>
          <a:xfrm>
            <a:off x="4468365" y="1529835"/>
            <a:ext cx="246888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1800" b="1" dirty="0">
                <a:solidFill>
                  <a:schemeClr val="accent1"/>
                </a:solidFill>
                <a:latin typeface="Aptos"/>
              </a:rPr>
              <a:t>Slack Notification</a:t>
            </a:r>
            <a:endParaRPr sz="1800" b="1" dirty="0">
              <a:solidFill>
                <a:schemeClr val="accent1"/>
              </a:solidFill>
              <a:latin typeface="Apto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E01513-046B-0FA8-B312-8F673FE336B8}"/>
              </a:ext>
            </a:extLst>
          </p:cNvPr>
          <p:cNvSpPr txBox="1"/>
          <p:nvPr/>
        </p:nvSpPr>
        <p:spPr>
          <a:xfrm>
            <a:off x="4468365" y="1857291"/>
            <a:ext cx="2926080" cy="2539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1050" b="0" dirty="0">
                <a:solidFill>
                  <a:srgbClr val="5C6980"/>
                </a:solidFill>
                <a:latin typeface="Aptos"/>
              </a:rPr>
              <a:t>Slack Notification with Action Center Link</a:t>
            </a:r>
            <a:endParaRPr sz="1050" b="0" dirty="0">
              <a:solidFill>
                <a:srgbClr val="5C6980"/>
              </a:solidFill>
              <a:latin typeface="Aptos"/>
            </a:endParaRPr>
          </a:p>
        </p:txBody>
      </p:sp>
      <p:sp>
        <p:nvSpPr>
          <p:cNvPr id="13" name="Rounded Rectangle 35">
            <a:extLst>
              <a:ext uri="{FF2B5EF4-FFF2-40B4-BE49-F238E27FC236}">
                <a16:creationId xmlns:a16="http://schemas.microsoft.com/office/drawing/2014/main" id="{BFB0ED76-CDC9-7BA3-9678-4DC058E7BE4D}"/>
              </a:ext>
            </a:extLst>
          </p:cNvPr>
          <p:cNvSpPr/>
          <p:nvPr/>
        </p:nvSpPr>
        <p:spPr>
          <a:xfrm>
            <a:off x="4925565" y="2258569"/>
            <a:ext cx="2606040" cy="4846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8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39">
            <a:extLst>
              <a:ext uri="{FF2B5EF4-FFF2-40B4-BE49-F238E27FC236}">
                <a16:creationId xmlns:a16="http://schemas.microsoft.com/office/drawing/2014/main" id="{3A5D807C-C1EF-374F-4596-FDEE0278AF38}"/>
              </a:ext>
            </a:extLst>
          </p:cNvPr>
          <p:cNvSpPr/>
          <p:nvPr/>
        </p:nvSpPr>
        <p:spPr>
          <a:xfrm>
            <a:off x="4925565" y="2852929"/>
            <a:ext cx="2606040" cy="4846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8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43">
            <a:extLst>
              <a:ext uri="{FF2B5EF4-FFF2-40B4-BE49-F238E27FC236}">
                <a16:creationId xmlns:a16="http://schemas.microsoft.com/office/drawing/2014/main" id="{3D51E2CC-8AFD-0D27-3F34-FE1E755B4904}"/>
              </a:ext>
            </a:extLst>
          </p:cNvPr>
          <p:cNvSpPr/>
          <p:nvPr/>
        </p:nvSpPr>
        <p:spPr>
          <a:xfrm>
            <a:off x="4925565" y="3447289"/>
            <a:ext cx="2606040" cy="4846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8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47">
            <a:extLst>
              <a:ext uri="{FF2B5EF4-FFF2-40B4-BE49-F238E27FC236}">
                <a16:creationId xmlns:a16="http://schemas.microsoft.com/office/drawing/2014/main" id="{A5C740E8-4492-5B4E-D3DF-FE1EAFEB7E97}"/>
              </a:ext>
            </a:extLst>
          </p:cNvPr>
          <p:cNvSpPr/>
          <p:nvPr/>
        </p:nvSpPr>
        <p:spPr>
          <a:xfrm>
            <a:off x="4925565" y="4041649"/>
            <a:ext cx="2606040" cy="4846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8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51">
            <a:extLst>
              <a:ext uri="{FF2B5EF4-FFF2-40B4-BE49-F238E27FC236}">
                <a16:creationId xmlns:a16="http://schemas.microsoft.com/office/drawing/2014/main" id="{08868053-D840-3209-F467-C25A3D2E4192}"/>
              </a:ext>
            </a:extLst>
          </p:cNvPr>
          <p:cNvSpPr/>
          <p:nvPr/>
        </p:nvSpPr>
        <p:spPr>
          <a:xfrm>
            <a:off x="4925565" y="4636009"/>
            <a:ext cx="2606040" cy="4846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8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54">
            <a:extLst>
              <a:ext uri="{FF2B5EF4-FFF2-40B4-BE49-F238E27FC236}">
                <a16:creationId xmlns:a16="http://schemas.microsoft.com/office/drawing/2014/main" id="{AB6F93A9-6E38-EA3E-7A42-C378F00FAEF6}"/>
              </a:ext>
            </a:extLst>
          </p:cNvPr>
          <p:cNvSpPr/>
          <p:nvPr/>
        </p:nvSpPr>
        <p:spPr>
          <a:xfrm>
            <a:off x="8016237" y="1417321"/>
            <a:ext cx="3703320" cy="4343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99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569DD4C-0FA1-1F5A-33A7-4FA3AFB8A8D0}"/>
              </a:ext>
            </a:extLst>
          </p:cNvPr>
          <p:cNvSpPr txBox="1"/>
          <p:nvPr/>
        </p:nvSpPr>
        <p:spPr>
          <a:xfrm>
            <a:off x="8217405" y="1529835"/>
            <a:ext cx="256032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1800" b="1" dirty="0">
                <a:solidFill>
                  <a:srgbClr val="099291"/>
                </a:solidFill>
                <a:latin typeface="Aptos"/>
              </a:rPr>
              <a:t>Update ServiceNow</a:t>
            </a:r>
            <a:endParaRPr sz="1800" b="1" dirty="0">
              <a:solidFill>
                <a:srgbClr val="099291"/>
              </a:solidFill>
              <a:latin typeface="Apto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27C9626-5A8D-9273-0FC2-F173DF2AB33F}"/>
              </a:ext>
            </a:extLst>
          </p:cNvPr>
          <p:cNvSpPr txBox="1"/>
          <p:nvPr/>
        </p:nvSpPr>
        <p:spPr>
          <a:xfrm>
            <a:off x="8217405" y="1776500"/>
            <a:ext cx="2926080" cy="4154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1050" b="0" dirty="0">
                <a:solidFill>
                  <a:srgbClr val="5C6980"/>
                </a:solidFill>
                <a:latin typeface="Aptos"/>
              </a:rPr>
              <a:t>Closes the </a:t>
            </a:r>
            <a:r>
              <a:rPr lang="en-US" sz="1050" b="0" dirty="0" err="1">
                <a:solidFill>
                  <a:srgbClr val="5C6980"/>
                </a:solidFill>
                <a:latin typeface="Aptos"/>
              </a:rPr>
              <a:t>servicenow</a:t>
            </a:r>
            <a:r>
              <a:rPr lang="en-US" sz="1050" b="0" dirty="0">
                <a:solidFill>
                  <a:srgbClr val="5C6980"/>
                </a:solidFill>
                <a:latin typeface="Aptos"/>
              </a:rPr>
              <a:t> ticket as per Approve or Reject.</a:t>
            </a:r>
            <a:endParaRPr sz="1050" b="0" dirty="0">
              <a:solidFill>
                <a:srgbClr val="5C6980"/>
              </a:solidFill>
              <a:latin typeface="Aptos"/>
            </a:endParaRPr>
          </a:p>
        </p:txBody>
      </p:sp>
      <p:sp>
        <p:nvSpPr>
          <p:cNvPr id="21" name="Rounded Rectangle 80">
            <a:extLst>
              <a:ext uri="{FF2B5EF4-FFF2-40B4-BE49-F238E27FC236}">
                <a16:creationId xmlns:a16="http://schemas.microsoft.com/office/drawing/2014/main" id="{DF86C8F1-FCAD-DEBA-21CB-65A610125FD8}"/>
              </a:ext>
            </a:extLst>
          </p:cNvPr>
          <p:cNvSpPr/>
          <p:nvPr/>
        </p:nvSpPr>
        <p:spPr>
          <a:xfrm>
            <a:off x="8381997" y="5120641"/>
            <a:ext cx="2971800" cy="420624"/>
          </a:xfrm>
          <a:prstGeom prst="roundRect">
            <a:avLst/>
          </a:prstGeom>
          <a:solidFill>
            <a:srgbClr val="099291"/>
          </a:solidFill>
          <a:ln w="12700">
            <a:solidFill>
              <a:srgbClr val="F4C6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1" dirty="0">
                <a:solidFill>
                  <a:schemeClr val="bg1"/>
                </a:solidFill>
                <a:latin typeface="Aptos"/>
              </a:rPr>
              <a:t>Final decision updated back to ServiceNow / audit store</a:t>
            </a:r>
          </a:p>
        </p:txBody>
      </p:sp>
      <p:sp>
        <p:nvSpPr>
          <p:cNvPr id="22" name="Rounded Rectangle 81">
            <a:extLst>
              <a:ext uri="{FF2B5EF4-FFF2-40B4-BE49-F238E27FC236}">
                <a16:creationId xmlns:a16="http://schemas.microsoft.com/office/drawing/2014/main" id="{E76D09AE-19F1-48CB-F9BE-91DAFA83097E}"/>
              </a:ext>
            </a:extLst>
          </p:cNvPr>
          <p:cNvSpPr/>
          <p:nvPr/>
        </p:nvSpPr>
        <p:spPr>
          <a:xfrm>
            <a:off x="198117" y="5971033"/>
            <a:ext cx="11521440" cy="731520"/>
          </a:xfrm>
          <a:prstGeom prst="roundRect">
            <a:avLst/>
          </a:prstGeom>
          <a:solidFill>
            <a:srgbClr val="F0F9FA"/>
          </a:solidFill>
          <a:ln w="12700">
            <a:solidFill>
              <a:srgbClr val="B0E2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BDC211E0-A588-3DED-49D7-FE6BDCC0D557}"/>
              </a:ext>
            </a:extLst>
          </p:cNvPr>
          <p:cNvSpPr/>
          <p:nvPr/>
        </p:nvSpPr>
        <p:spPr>
          <a:xfrm>
            <a:off x="518157" y="6135625"/>
            <a:ext cx="292608" cy="29260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 dirty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7787769-CDF0-AE5E-C6D6-E42262F746C3}"/>
              </a:ext>
            </a:extLst>
          </p:cNvPr>
          <p:cNvSpPr txBox="1"/>
          <p:nvPr/>
        </p:nvSpPr>
        <p:spPr>
          <a:xfrm>
            <a:off x="902205" y="6062473"/>
            <a:ext cx="173736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0A2149"/>
                </a:solidFill>
                <a:latin typeface="Aptos"/>
              </a:rPr>
              <a:t>Explainable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518209B-8326-2D42-C553-DCFF9632797E}"/>
              </a:ext>
            </a:extLst>
          </p:cNvPr>
          <p:cNvSpPr txBox="1"/>
          <p:nvPr/>
        </p:nvSpPr>
        <p:spPr>
          <a:xfrm>
            <a:off x="902205" y="6227065"/>
            <a:ext cx="2011680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5C6980"/>
                </a:solidFill>
                <a:latin typeface="Aptos"/>
              </a:rPr>
              <a:t>reason + evidence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E46215D8-9CD3-2B0F-7235-42DFAD56DD93}"/>
              </a:ext>
            </a:extLst>
          </p:cNvPr>
          <p:cNvSpPr/>
          <p:nvPr/>
        </p:nvSpPr>
        <p:spPr>
          <a:xfrm>
            <a:off x="3307077" y="6135625"/>
            <a:ext cx="292608" cy="29260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 dirty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A4039CC-23EA-C1BC-30AA-D2E54F787A1E}"/>
              </a:ext>
            </a:extLst>
          </p:cNvPr>
          <p:cNvSpPr txBox="1"/>
          <p:nvPr/>
        </p:nvSpPr>
        <p:spPr>
          <a:xfrm>
            <a:off x="3691125" y="6062473"/>
            <a:ext cx="173736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0A2149"/>
                </a:solidFill>
                <a:latin typeface="Aptos"/>
              </a:rPr>
              <a:t>Traceable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66787B1-B935-AA18-3539-A996BE27B005}"/>
              </a:ext>
            </a:extLst>
          </p:cNvPr>
          <p:cNvSpPr txBox="1"/>
          <p:nvPr/>
        </p:nvSpPr>
        <p:spPr>
          <a:xfrm>
            <a:off x="3691125" y="6227065"/>
            <a:ext cx="2011680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5C6980"/>
                </a:solidFill>
                <a:latin typeface="Aptos"/>
              </a:rPr>
              <a:t>full case path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0528619-D07C-CC7A-D8A2-519DA0494CB9}"/>
              </a:ext>
            </a:extLst>
          </p:cNvPr>
          <p:cNvSpPr/>
          <p:nvPr/>
        </p:nvSpPr>
        <p:spPr>
          <a:xfrm>
            <a:off x="6095997" y="6135625"/>
            <a:ext cx="292608" cy="292608"/>
          </a:xfrm>
          <a:prstGeom prst="ellipse">
            <a:avLst/>
          </a:prstGeom>
          <a:solidFill>
            <a:srgbClr val="099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 dirty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762A214-9F18-FA6E-0FF8-8276E45DF803}"/>
              </a:ext>
            </a:extLst>
          </p:cNvPr>
          <p:cNvSpPr txBox="1"/>
          <p:nvPr/>
        </p:nvSpPr>
        <p:spPr>
          <a:xfrm>
            <a:off x="6480045" y="6062473"/>
            <a:ext cx="173736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0A2149"/>
                </a:solidFill>
                <a:latin typeface="Aptos"/>
              </a:rPr>
              <a:t>Audit-ready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CC433D0-841C-0AF4-2140-17C7DBFEF3FD}"/>
              </a:ext>
            </a:extLst>
          </p:cNvPr>
          <p:cNvSpPr txBox="1"/>
          <p:nvPr/>
        </p:nvSpPr>
        <p:spPr>
          <a:xfrm>
            <a:off x="6480045" y="6227065"/>
            <a:ext cx="2011680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5C6980"/>
                </a:solidFill>
                <a:latin typeface="Aptos"/>
              </a:rPr>
              <a:t>logged decision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11547F38-0DBE-A99F-F91A-F3DEBB9BA526}"/>
              </a:ext>
            </a:extLst>
          </p:cNvPr>
          <p:cNvSpPr/>
          <p:nvPr/>
        </p:nvSpPr>
        <p:spPr>
          <a:xfrm>
            <a:off x="8884916" y="6135625"/>
            <a:ext cx="292608" cy="292608"/>
          </a:xfrm>
          <a:prstGeom prst="ellipse">
            <a:avLst/>
          </a:prstGeom>
          <a:solidFill>
            <a:srgbClr val="099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DFE817A-1E20-C385-2EFE-B26EBE8EFB0A}"/>
              </a:ext>
            </a:extLst>
          </p:cNvPr>
          <p:cNvSpPr txBox="1"/>
          <p:nvPr/>
        </p:nvSpPr>
        <p:spPr>
          <a:xfrm>
            <a:off x="9268964" y="6062473"/>
            <a:ext cx="173736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0A2149"/>
                </a:solidFill>
                <a:latin typeface="Aptos"/>
              </a:rPr>
              <a:t>Controlled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CA2B56C-D563-7E53-DFFD-62B49BC93DF0}"/>
              </a:ext>
            </a:extLst>
          </p:cNvPr>
          <p:cNvSpPr txBox="1"/>
          <p:nvPr/>
        </p:nvSpPr>
        <p:spPr>
          <a:xfrm>
            <a:off x="9268964" y="6227065"/>
            <a:ext cx="2011680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5C6980"/>
                </a:solidFill>
                <a:latin typeface="Aptos"/>
              </a:rPr>
              <a:t>human action captured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66EBD7A7-B95F-E9F9-D658-AB2A8379BB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148" y="2230698"/>
            <a:ext cx="3383280" cy="3467863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9C008A03-4E96-7504-FA91-09BE9B9E8A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2353" y="2276158"/>
            <a:ext cx="3154680" cy="3356547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78C3B9E6-9C2E-DCEA-9809-CBC6ED5F5A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8157" y="2148221"/>
            <a:ext cx="3291840" cy="1544272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24053C98-A0CB-41E5-47BF-38C1CDDE6B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8157" y="3790868"/>
            <a:ext cx="3182112" cy="1690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7006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228FAC6-C065-6C27-3261-AEC298620D05}"/>
              </a:ext>
            </a:extLst>
          </p:cNvPr>
          <p:cNvSpPr txBox="1"/>
          <p:nvPr/>
        </p:nvSpPr>
        <p:spPr>
          <a:xfrm>
            <a:off x="1428203" y="4388326"/>
            <a:ext cx="8412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 dirty="0">
                <a:solidFill>
                  <a:srgbClr val="606F86"/>
                </a:solidFill>
                <a:latin typeface="Aptos"/>
              </a:rPr>
              <a:t>AI prepares the evidence. Humans control the exceptions. Every decision stays traceable.</a:t>
            </a:r>
          </a:p>
        </p:txBody>
      </p:sp>
      <p:sp>
        <p:nvSpPr>
          <p:cNvPr id="8" name="Rounded Rectangle 8">
            <a:extLst>
              <a:ext uri="{FF2B5EF4-FFF2-40B4-BE49-F238E27FC236}">
                <a16:creationId xmlns:a16="http://schemas.microsoft.com/office/drawing/2014/main" id="{5B752AA3-5D2B-F08C-642A-50A0FF036DA4}"/>
              </a:ext>
            </a:extLst>
          </p:cNvPr>
          <p:cNvSpPr/>
          <p:nvPr/>
        </p:nvSpPr>
        <p:spPr>
          <a:xfrm>
            <a:off x="559523" y="4786090"/>
            <a:ext cx="3246120" cy="123444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B1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877A135-4B8A-FA2E-CB8B-72928D532D27}"/>
              </a:ext>
            </a:extLst>
          </p:cNvPr>
          <p:cNvSpPr/>
          <p:nvPr/>
        </p:nvSpPr>
        <p:spPr>
          <a:xfrm>
            <a:off x="788123" y="5106130"/>
            <a:ext cx="438912" cy="438912"/>
          </a:xfrm>
          <a:prstGeom prst="ellipse">
            <a:avLst/>
          </a:prstGeom>
          <a:solidFill>
            <a:srgbClr val="068D8E"/>
          </a:solidFill>
          <a:ln w="10160">
            <a:solidFill>
              <a:srgbClr val="068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00228B-37A9-A960-64E4-4484663F9869}"/>
              </a:ext>
            </a:extLst>
          </p:cNvPr>
          <p:cNvSpPr txBox="1"/>
          <p:nvPr/>
        </p:nvSpPr>
        <p:spPr>
          <a:xfrm>
            <a:off x="1382483" y="4959826"/>
            <a:ext cx="21031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82043"/>
                </a:solidFill>
                <a:latin typeface="Aptos"/>
              </a:rPr>
              <a:t>Built on UiPath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0E0572-8733-2C93-5B62-581913832B00}"/>
              </a:ext>
            </a:extLst>
          </p:cNvPr>
          <p:cNvSpPr txBox="1"/>
          <p:nvPr/>
        </p:nvSpPr>
        <p:spPr>
          <a:xfrm>
            <a:off x="1382483" y="5307298"/>
            <a:ext cx="21488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606F86"/>
                </a:solidFill>
                <a:latin typeface="Aptos"/>
              </a:rPr>
              <a:t>Maestro, Agent Builder, Document Understanding, Apps, Action Center</a:t>
            </a:r>
          </a:p>
        </p:txBody>
      </p:sp>
      <p:sp>
        <p:nvSpPr>
          <p:cNvPr id="12" name="Rounded Rectangle 12">
            <a:extLst>
              <a:ext uri="{FF2B5EF4-FFF2-40B4-BE49-F238E27FC236}">
                <a16:creationId xmlns:a16="http://schemas.microsoft.com/office/drawing/2014/main" id="{6B674044-92F3-22CB-B41C-B1B77856C4D5}"/>
              </a:ext>
            </a:extLst>
          </p:cNvPr>
          <p:cNvSpPr/>
          <p:nvPr/>
        </p:nvSpPr>
        <p:spPr>
          <a:xfrm>
            <a:off x="4262843" y="4786090"/>
            <a:ext cx="3246120" cy="1234440"/>
          </a:xfrm>
          <a:prstGeom prst="roundRect">
            <a:avLst/>
          </a:prstGeom>
          <a:solidFill>
            <a:srgbClr val="E6F7F7"/>
          </a:solidFill>
          <a:ln w="12700">
            <a:solidFill>
              <a:srgbClr val="F5C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7F7430B-5236-4D65-A5E0-D53BD3A7D2AD}"/>
              </a:ext>
            </a:extLst>
          </p:cNvPr>
          <p:cNvSpPr/>
          <p:nvPr/>
        </p:nvSpPr>
        <p:spPr>
          <a:xfrm>
            <a:off x="4491443" y="5106130"/>
            <a:ext cx="438912" cy="438912"/>
          </a:xfrm>
          <a:prstGeom prst="ellipse">
            <a:avLst/>
          </a:prstGeom>
          <a:solidFill>
            <a:srgbClr val="099291"/>
          </a:solidFill>
          <a:ln w="10160">
            <a:solidFill>
              <a:srgbClr val="F25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70AA01B-C5B2-67A7-0DC3-C29707676F7C}"/>
              </a:ext>
            </a:extLst>
          </p:cNvPr>
          <p:cNvSpPr txBox="1"/>
          <p:nvPr/>
        </p:nvSpPr>
        <p:spPr>
          <a:xfrm>
            <a:off x="5085803" y="4959826"/>
            <a:ext cx="21031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82043"/>
                </a:solidFill>
                <a:latin typeface="Aptos"/>
              </a:rPr>
              <a:t>Agentic Governance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D3D4FE2-E535-7052-32DD-E1378EEF34C6}"/>
              </a:ext>
            </a:extLst>
          </p:cNvPr>
          <p:cNvSpPr txBox="1"/>
          <p:nvPr/>
        </p:nvSpPr>
        <p:spPr>
          <a:xfrm>
            <a:off x="5085803" y="5307298"/>
            <a:ext cx="21488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606F86"/>
                </a:solidFill>
                <a:latin typeface="Aptos"/>
              </a:rPr>
              <a:t>Specialist agents evaluate finance, legal, cyber, intent, reputation, and precedent risks</a:t>
            </a:r>
          </a:p>
        </p:txBody>
      </p:sp>
      <p:sp>
        <p:nvSpPr>
          <p:cNvPr id="16" name="Rounded Rectangle 16">
            <a:extLst>
              <a:ext uri="{FF2B5EF4-FFF2-40B4-BE49-F238E27FC236}">
                <a16:creationId xmlns:a16="http://schemas.microsoft.com/office/drawing/2014/main" id="{C3EE7B91-7FFB-6D1B-F21B-6136F4FD9D3E}"/>
              </a:ext>
            </a:extLst>
          </p:cNvPr>
          <p:cNvSpPr/>
          <p:nvPr/>
        </p:nvSpPr>
        <p:spPr>
          <a:xfrm>
            <a:off x="7966163" y="4786090"/>
            <a:ext cx="3246120" cy="123444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B1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B1DC567-592F-6FD0-3EA4-77E027648F44}"/>
              </a:ext>
            </a:extLst>
          </p:cNvPr>
          <p:cNvSpPr/>
          <p:nvPr/>
        </p:nvSpPr>
        <p:spPr>
          <a:xfrm>
            <a:off x="8194763" y="5106130"/>
            <a:ext cx="438912" cy="438912"/>
          </a:xfrm>
          <a:prstGeom prst="ellipse">
            <a:avLst/>
          </a:prstGeom>
          <a:solidFill>
            <a:srgbClr val="068D8E"/>
          </a:solidFill>
          <a:ln w="10160">
            <a:solidFill>
              <a:srgbClr val="068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C868258-5B49-736C-5E87-FF8163C87E79}"/>
              </a:ext>
            </a:extLst>
          </p:cNvPr>
          <p:cNvSpPr txBox="1"/>
          <p:nvPr/>
        </p:nvSpPr>
        <p:spPr>
          <a:xfrm>
            <a:off x="8789123" y="4959826"/>
            <a:ext cx="21031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82043"/>
                </a:solidFill>
                <a:latin typeface="Aptos"/>
              </a:rPr>
              <a:t>Audit-ready Decisions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05BA1E5-25D6-21A3-6D26-2B738D57DAE0}"/>
              </a:ext>
            </a:extLst>
          </p:cNvPr>
          <p:cNvSpPr txBox="1"/>
          <p:nvPr/>
        </p:nvSpPr>
        <p:spPr>
          <a:xfrm>
            <a:off x="8789123" y="5307298"/>
            <a:ext cx="21488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606F86"/>
                </a:solidFill>
                <a:latin typeface="Aptos"/>
              </a:rPr>
              <a:t>Final recommendation, evidence, human action, and audit trail captured end-to-end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7B7DB27-5D02-BFCB-E319-5C341CECBD15}"/>
              </a:ext>
            </a:extLst>
          </p:cNvPr>
          <p:cNvSpPr txBox="1"/>
          <p:nvPr/>
        </p:nvSpPr>
        <p:spPr>
          <a:xfrm>
            <a:off x="2434043" y="3839793"/>
            <a:ext cx="60916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 err="1">
                <a:solidFill>
                  <a:srgbClr val="082043"/>
                </a:solidFill>
                <a:latin typeface="Aptos"/>
              </a:rPr>
              <a:t>VerdictOS</a:t>
            </a:r>
            <a:r>
              <a:rPr lang="en-US" sz="1400" b="1" dirty="0">
                <a:solidFill>
                  <a:srgbClr val="082043"/>
                </a:solidFill>
                <a:latin typeface="Aptos"/>
              </a:rPr>
              <a:t>: Faster, explainable, audit-ready governance decisions.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imary Presentation Layouts">
  <a:themeElements>
    <a:clrScheme name="UiPath colors">
      <a:dk1>
        <a:srgbClr val="172024"/>
      </a:dk1>
      <a:lt1>
        <a:srgbClr val="FFFFFF"/>
      </a:lt1>
      <a:dk2>
        <a:srgbClr val="9D9D9D"/>
      </a:dk2>
      <a:lt2>
        <a:srgbClr val="F6F6F6"/>
      </a:lt2>
      <a:accent1>
        <a:srgbClr val="FA4616"/>
      </a:accent1>
      <a:accent2>
        <a:srgbClr val="1E6482"/>
      </a:accent2>
      <a:accent3>
        <a:srgbClr val="A32200"/>
      </a:accent3>
      <a:accent4>
        <a:srgbClr val="0BA2B3"/>
      </a:accent4>
      <a:accent5>
        <a:srgbClr val="8B288A"/>
      </a:accent5>
      <a:accent6>
        <a:srgbClr val="FA7678"/>
      </a:accent6>
      <a:hlink>
        <a:srgbClr val="5BCBDE"/>
      </a:hlink>
      <a:folHlink>
        <a:srgbClr val="5BCBD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rimary Presentation Layouts">
  <a:themeElements>
    <a:clrScheme name="Primary Presentation Layouts">
      <a:dk1>
        <a:srgbClr val="000000"/>
      </a:dk1>
      <a:lt1>
        <a:srgbClr val="FFFFFF"/>
      </a:lt1>
      <a:dk2>
        <a:srgbClr val="9D9D9D"/>
      </a:dk2>
      <a:lt2>
        <a:srgbClr val="A32200"/>
      </a:lt2>
      <a:accent1>
        <a:srgbClr val="FCC0C5"/>
      </a:accent1>
      <a:accent2>
        <a:srgbClr val="5BCBDE"/>
      </a:accent2>
      <a:accent3>
        <a:srgbClr val="F6F6F6"/>
      </a:accent3>
      <a:accent4>
        <a:srgbClr val="434648"/>
      </a:accent4>
      <a:accent5>
        <a:srgbClr val="FFCBFF"/>
      </a:accent5>
      <a:accent6>
        <a:srgbClr val="1168CD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628</Words>
  <Application>Microsoft Office PowerPoint</Application>
  <PresentationFormat>Custom</PresentationFormat>
  <Paragraphs>139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Arial</vt:lpstr>
      <vt:lpstr>NTR</vt:lpstr>
      <vt:lpstr>Times New Roman</vt:lpstr>
      <vt:lpstr>Primary Presentation Layouts</vt:lpstr>
      <vt:lpstr>VerdictOS –  Agentic Courtroom for Enterprise Decisions</vt:lpstr>
      <vt:lpstr>PowerPoint Presentation</vt:lpstr>
      <vt:lpstr>Problem statement and proposed solution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Andreea Tomescu</dc:creator>
  <cp:lastModifiedBy>Ashish Negi</cp:lastModifiedBy>
  <cp:revision>29</cp:revision>
  <dcterms:created xsi:type="dcterms:W3CDTF">2025-06-06T15:41:05Z</dcterms:created>
  <dcterms:modified xsi:type="dcterms:W3CDTF">2026-06-29T13:49:40Z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0x0101006586BB0CA657274B8C976C7E0436D499</vt:lpwstr>
  </property>
  <property fmtid="{D5CDD505-2E9C-101B-9397-08002B2CF9AE}" pid="3" name="MediaServiceImageTags">
    <vt:lpwstr/>
  </property>
</Properties>
</file>